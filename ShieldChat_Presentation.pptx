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Piyush and Kedar. Our project is ShieldChat: an internal company chat app, like WhatsApp for employees, that stops sensitive data such as card numbers, Aadhaar, PAN and bank details from being shared, discourages copying data outside the organisation, and uses Google Gemini AI to suggest more professional wording.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Companies moved from email to chat because it is fast. But speed means people paste things without thinking. Example: a support employee pastes a customer's card number to a colleague. Now it sits on chat servers, visible to everyone, easy to forward. That can breach the DPDP Act 2023, RBI rules and PCI-DSS. Data also leaves by copy-paste, printing and screenshots, and rude messages create HR problems.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answer has four pillars. Secure login so only employees get in. A two-layer DLP engine that checks every message: Layer 1 runs locally with patterns and checksums; Layer 2 uses Gemini AI for things patterns cannot see, and also suggests polite wording. Anti-exfiltration controls discourage copying and make leaks traceable. And a live dashboard for the security team.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kept the stack simple so it runs on any Windows laptop. No React, no build step: plain HTML, CSS and JavaScript. Flask is the Python web framework; Flask-SocketIO gives real-time two-way messaging, in threading mode so it works on Windows without extra servers. SQLite is a single-file database. The AI is Google Gemini through the official google-genai SDK, model gemini-3.5-flash-lite: stable, free tier, and fast.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Browsers talk to one Flask server over Socket.IO. Every message goes to the DLP engine first; it runs on our own server. Only if the message is clean do we call Gemini. The result is either delivered, blocked with a popup, or returned with a tone suggestion. Everything is stored in SQLite, and incidents are pushed live to the admin dashboard. The key point: raw sensitive data never reaches Gemini.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by step: the browser sends the text over Socket.IO. The server takes the sender's identity from the signed session, never from the browser. Layer 1 scans locally. If it finds something, block and log a masked incident. If clean, one Gemini call returns JSON. Then there are three outcomes: send, block, or suggest. If Gemini is down, we still send. Layer 1 has already protected 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Passwords are hashed with scrypt and a random salt: a one-way blender, so even if the database is stolen the passwords are not exposed. Only shieldcorp.com emails can sign in, checked on the server. Five wrong passwords lock the account for two minutes, which stops brute force; every failure is logged for the admin. Sessions use a signed cookie that JavaScript cannot read.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it as an airport X-ray for messages. Regular expressions find the shape of the data, and checksums confirm it is real, so random numbers are not flagged. Bank accounts are the tricky one: 9 to 18 digits also matches phone numbers and order IDs, so we only flag them when words like 'account' or an IFSC code are nearby. Every finding is masked to the last four characters, and only the masked value is stored.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checksum is like a spell-check for numbers: the last digit is calculated from the others, so a random number usually fails. Luhn: from the right, double every second digit, subtract 9 if over 9, add everything; a valid card total ends in zero. Our Visa test number totals 80, so it is valid. Verhoeff is stronger: it catches every single-digit mistake and every swap of neighbouring digits. UIDAI uses it for Aadhaar.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screenshot. Alice typed the client's Visa number with its expiry date. The message was blocked before it reached Bob. The popup names the policy, shows only the masked value and the reason. Alice can edit the message, or send the masked version, which Bob receives as XXXX XXXX XXXX 7352 with the expiry masked too. The raw message was never sent to Gemini.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Patterns can't read meaning. 'Four four eight five...' has no digits, and 'the password is...' has no fixed format. So clean messages go to Gemini once, and we force a strict JSON answer using the SDK's structured output. If sensitive_detected is true, we block like a DLP finding. If is_unprofessional, we show a yellow hint: the user can use the suggestion, send the original, or edit. We never block for tone. Fail-closed for security, fail-open for convenience.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Copy, cut, right-click and text selection are disabled in the message area; each attempt shows a toast and is logged. Large pastes over 200 characters are allowed but logged. A faint watermark with the user's email and the time covers the chat, like a name stamped on photocopies, so any photo of the screen is traceable. The chat blurs when you switch away, and printing gives a blank page. We are honest: a phone camera can't be stopped; these are deterrents plus an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admin sees totals and every incident in real time: Socket.IO pushes each new incident, with a 5-second refresh as a backup. Notice the details column shows only masked values; storing the real card number would make the log itself a data leak. The page is protected on the server: if Alice types /admin, she gets 403.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features, we followed secure coding rules. Every SQL query uses parameter placeholders, which prevents SQL injection. Messages are displayed with textContent, never innerHTML, so a script tag shows as plain text; you can see that in the earlier screenshot. Every security decision is made on the server. The API key lives in .env, which is excluded from git. And 28 automated tests pass.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Advantages: privacy-first layered DLP, works offline, and full accountability. Limitations, honestly: screenshots and phone cameras can't be fully blocked, regex can miss creative formats like numbers split across messages or inside images, and the AI needs the internet and can misjudge tone. Also, on Gemini's free tier Google may use inputs to improve its products, which is another reason sensitive data never goes to the AI.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OCR to read sensitive data inside shared images; integration with Microsoft Active Directory for single sign-on and Microsoft Purview for central DLP policies; and a mobile app with tone checks in Hindi, Marathi and other languages.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ShieldChat shows that internal chat can be fast and secure at the same time. Local DLP blocks sensitive data before it is shared, Gemini adds context-aware detection and polite wording without ever seeing raw sensitive values, and login security, anti-exfiltration and live monitoring complete the picture. It is a small model of how real enterprise tools like Microsoft Purview protect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We are happy to take questions, and we can show the live demo now.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863840" y="-1097280"/>
            <a:ext cx="5943600" cy="5943600"/>
          </a:xfrm>
          <a:prstGeom prst="ellipse">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509760" y="3840480"/>
            <a:ext cx="3657600" cy="3657600"/>
          </a:xfrm>
          <a:prstGeom prst="ellipse">
            <a:avLst/>
          </a:prstGeom>
          <a:solidFill>
            <a:srgbClr val="0B6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822960"/>
            <a:ext cx="2743200" cy="914400"/>
          </a:xfrm>
          <a:prstGeom prst="rect">
            <a:avLst/>
          </a:prstGeom>
          <a:noFill/>
        </p:spPr>
        <p:txBody>
          <a:bodyPr wrap="square" anchor="t" lIns="45720" rIns="45720">
            <a:spAutoFit/>
          </a:bodyPr>
          <a:lstStyle/>
          <a:p>
            <a:pPr algn="l">
              <a:lnSpc>
                <a:spcPct val="110000"/>
              </a:lnSpc>
            </a:pPr>
            <a:r>
              <a:rPr sz="5400" b="0">
                <a:solidFill>
                  <a:srgbClr val="FFFFFF"/>
                </a:solidFill>
                <a:latin typeface="Segoe UI"/>
              </a:rPr>
              <a:t>🛡</a:t>
            </a:r>
          </a:p>
        </p:txBody>
      </p:sp>
      <p:sp>
        <p:nvSpPr>
          <p:cNvPr id="6" name="TextBox 5"/>
          <p:cNvSpPr txBox="1"/>
          <p:nvPr/>
        </p:nvSpPr>
        <p:spPr>
          <a:xfrm>
            <a:off x="731520" y="1783080"/>
            <a:ext cx="9144000" cy="1005840"/>
          </a:xfrm>
          <a:prstGeom prst="rect">
            <a:avLst/>
          </a:prstGeom>
          <a:noFill/>
        </p:spPr>
        <p:txBody>
          <a:bodyPr wrap="square" anchor="t" lIns="45720" rIns="45720">
            <a:spAutoFit/>
          </a:bodyPr>
          <a:lstStyle/>
          <a:p>
            <a:pPr algn="l">
              <a:lnSpc>
                <a:spcPct val="110000"/>
              </a:lnSpc>
            </a:pPr>
            <a:r>
              <a:rPr sz="6000" b="1">
                <a:solidFill>
                  <a:srgbClr val="FFFFFF"/>
                </a:solidFill>
                <a:latin typeface="Segoe UI"/>
              </a:rPr>
              <a:t>ShieldChat</a:t>
            </a:r>
          </a:p>
        </p:txBody>
      </p:sp>
      <p:sp>
        <p:nvSpPr>
          <p:cNvPr id="7" name="TextBox 6"/>
          <p:cNvSpPr txBox="1"/>
          <p:nvPr/>
        </p:nvSpPr>
        <p:spPr>
          <a:xfrm>
            <a:off x="731520" y="2788920"/>
            <a:ext cx="9601200" cy="1097280"/>
          </a:xfrm>
          <a:prstGeom prst="rect">
            <a:avLst/>
          </a:prstGeom>
          <a:noFill/>
        </p:spPr>
        <p:txBody>
          <a:bodyPr wrap="square" anchor="t" lIns="45720" rIns="45720">
            <a:spAutoFit/>
          </a:bodyPr>
          <a:lstStyle/>
          <a:p>
            <a:pPr algn="l">
              <a:lnSpc>
                <a:spcPct val="110000"/>
              </a:lnSpc>
            </a:pPr>
            <a:r>
              <a:rPr sz="2400" b="0">
                <a:solidFill>
                  <a:srgbClr val="C8F4EA"/>
                </a:solidFill>
                <a:latin typeface="Segoe UI"/>
              </a:rPr>
              <a:t>AI-Powered Secure Enterprise Chat Application with Data Loss Prevention</a:t>
            </a:r>
          </a:p>
        </p:txBody>
      </p:sp>
      <p:sp>
        <p:nvSpPr>
          <p:cNvPr id="8" name="TextBox 7"/>
          <p:cNvSpPr txBox="1"/>
          <p:nvPr/>
        </p:nvSpPr>
        <p:spPr>
          <a:xfrm>
            <a:off x="731520" y="3840480"/>
            <a:ext cx="9144000" cy="457200"/>
          </a:xfrm>
          <a:prstGeom prst="rect">
            <a:avLst/>
          </a:prstGeom>
          <a:noFill/>
        </p:spPr>
        <p:txBody>
          <a:bodyPr wrap="square" anchor="t" lIns="45720" rIns="45720">
            <a:spAutoFit/>
          </a:bodyPr>
          <a:lstStyle/>
          <a:p>
            <a:pPr algn="l">
              <a:lnSpc>
                <a:spcPct val="110000"/>
              </a:lnSpc>
            </a:pPr>
            <a:r>
              <a:rPr sz="1600" b="0">
                <a:solidFill>
                  <a:srgbClr val="9FE0D2"/>
                </a:solidFill>
                <a:latin typeface="Segoe UI"/>
              </a:rPr>
              <a:t>Python Flask · Flask-SocketIO · SQLite · Google Gemini API</a:t>
            </a:r>
          </a:p>
        </p:txBody>
      </p:sp>
      <p:sp>
        <p:nvSpPr>
          <p:cNvPr id="9" name="TextBox 8"/>
          <p:cNvSpPr txBox="1"/>
          <p:nvPr/>
        </p:nvSpPr>
        <p:spPr>
          <a:xfrm>
            <a:off x="731520" y="4572000"/>
            <a:ext cx="7315200" cy="1463040"/>
          </a:xfrm>
          <a:prstGeom prst="rect">
            <a:avLst/>
          </a:prstGeom>
          <a:noFill/>
        </p:spPr>
        <p:txBody>
          <a:bodyPr wrap="square" anchor="t" lIns="45720" rIns="45720">
            <a:spAutoFit/>
          </a:bodyPr>
          <a:lstStyle/>
          <a:p>
            <a:pPr algn="l">
              <a:lnSpc>
                <a:spcPct val="130000"/>
              </a:lnSpc>
            </a:pPr>
            <a:r>
              <a:rPr sz="1600" b="1">
                <a:solidFill>
                  <a:srgbClr val="FFFFFF"/>
                </a:solidFill>
                <a:latin typeface="Segoe UI"/>
              </a:rPr>
              <a:t>Piyush Tiwatne (TH3313)  ·  Kedar Bhaskar (TH3314)</a:t>
            </a:r>
          </a:p>
          <a:p>
            <a:pPr algn="l">
              <a:lnSpc>
                <a:spcPct val="130000"/>
              </a:lnSpc>
            </a:pPr>
            <a:r>
              <a:rPr sz="1600" b="0">
                <a:solidFill>
                  <a:srgbClr val="FFFFFF"/>
                </a:solidFill>
                <a:latin typeface="Segoe UI"/>
              </a:rPr>
              <a:t>Guide: Mrs Rajashree Khadke</a:t>
            </a:r>
          </a:p>
          <a:p>
            <a:pPr algn="l">
              <a:lnSpc>
                <a:spcPct val="130000"/>
              </a:lnSpc>
            </a:pPr>
            <a:r>
              <a:rPr sz="1600" b="0">
                <a:solidFill>
                  <a:srgbClr val="FFFFFF"/>
                </a:solidFill>
                <a:latin typeface="Segoe UI"/>
              </a:rPr>
              <a:t>Department: CDS  ·  MIT ACSC  ·  Academic Year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320040"/>
          </a:xfrm>
          <a:prstGeom prst="rect">
            <a:avLst/>
          </a:prstGeom>
          <a:noFill/>
        </p:spPr>
        <p:txBody>
          <a:bodyPr wrap="square" anchor="t" lIns="45720" rIns="45720">
            <a:spAutoFit/>
          </a:bodyPr>
          <a:lstStyle/>
          <a:p>
            <a:pPr algn="l">
              <a:lnSpc>
                <a:spcPct val="110000"/>
              </a:lnSpc>
            </a:pPr>
            <a:r>
              <a:rPr sz="1200" b="1">
                <a:solidFill>
                  <a:srgbClr val="128C7E"/>
                </a:solidFill>
                <a:latin typeface="Segoe UI"/>
              </a:rPr>
              <a:t>THE PROBLEM</a:t>
            </a:r>
          </a:p>
        </p:txBody>
      </p:sp>
      <p:sp>
        <p:nvSpPr>
          <p:cNvPr id="4" name="TextBox 3"/>
          <p:cNvSpPr txBox="1"/>
          <p:nvPr/>
        </p:nvSpPr>
        <p:spPr>
          <a:xfrm>
            <a:off x="548640" y="530352"/>
            <a:ext cx="10972800" cy="731520"/>
          </a:xfrm>
          <a:prstGeom prst="rect">
            <a:avLst/>
          </a:prstGeom>
          <a:noFill/>
        </p:spPr>
        <p:txBody>
          <a:bodyPr wrap="square" anchor="t" lIns="45720" rIns="45720">
            <a:spAutoFit/>
          </a:bodyPr>
          <a:lstStyle/>
          <a:p>
            <a:pPr algn="l">
              <a:lnSpc>
                <a:spcPct val="110000"/>
              </a:lnSpc>
            </a:pPr>
            <a:r>
              <a:rPr sz="3000" b="1">
                <a:solidFill>
                  <a:srgbClr val="075E54"/>
                </a:solidFill>
                <a:latin typeface="Segoe UI"/>
              </a:rPr>
              <a:t>Chat is where company data leaks</a:t>
            </a:r>
          </a:p>
        </p:txBody>
      </p:sp>
      <p:sp>
        <p:nvSpPr>
          <p:cNvPr id="5" name="TextBox 4"/>
          <p:cNvSpPr txBox="1"/>
          <p:nvPr/>
        </p:nvSpPr>
        <p:spPr>
          <a:xfrm>
            <a:off x="548640" y="6446520"/>
            <a:ext cx="7315200" cy="274320"/>
          </a:xfrm>
          <a:prstGeom prst="rect">
            <a:avLst/>
          </a:prstGeom>
          <a:noFill/>
        </p:spPr>
        <p:txBody>
          <a:bodyPr wrap="square" anchor="t" lIns="45720" rIns="45720">
            <a:spAutoFit/>
          </a:bodyPr>
          <a:lstStyle/>
          <a:p>
            <a:pPr algn="l">
              <a:lnSpc>
                <a:spcPct val="110000"/>
              </a:lnSpc>
            </a:pPr>
            <a:r>
              <a:rPr sz="1000" b="0">
                <a:solidFill>
                  <a:srgbClr val="5B6B75"/>
                </a:solidFill>
                <a:latin typeface="Segoe UI"/>
              </a:rPr>
              <a:t>🛡 ShieldChat · Secure Enterprise Chat with DLP</a:t>
            </a:r>
          </a:p>
        </p:txBody>
      </p:sp>
      <p:sp>
        <p:nvSpPr>
          <p:cNvPr id="6" name="TextBox 5"/>
          <p:cNvSpPr txBox="1"/>
          <p:nvPr/>
        </p:nvSpPr>
        <p:spPr>
          <a:xfrm>
            <a:off x="10881360" y="6446520"/>
            <a:ext cx="914400" cy="274320"/>
          </a:xfrm>
          <a:prstGeom prst="rect">
            <a:avLst/>
          </a:prstGeom>
          <a:noFill/>
        </p:spPr>
        <p:txBody>
          <a:bodyPr wrap="square" anchor="t" lIns="45720" rIns="45720">
            <a:spAutoFit/>
          </a:bodyPr>
          <a:lstStyle/>
          <a:p>
            <a:pPr algn="r">
              <a:lnSpc>
                <a:spcPct val="110000"/>
              </a:lnSpc>
            </a:pPr>
            <a:r>
              <a:rPr sz="1000" b="0">
                <a:solidFill>
                  <a:srgbClr val="5B6B75"/>
                </a:solidFill>
                <a:latin typeface="Segoe UI"/>
              </a:rPr>
              <a:t>2 / 18</a:t>
            </a:r>
          </a:p>
        </p:txBody>
      </p:sp>
      <p:sp>
        <p:nvSpPr>
          <p:cNvPr id="7" name="Rounded Rectangle 6"/>
          <p:cNvSpPr/>
          <p:nvPr/>
        </p:nvSpPr>
        <p:spPr>
          <a:xfrm>
            <a:off x="548640" y="1600200"/>
            <a:ext cx="3566160" cy="3108960"/>
          </a:xfrm>
          <a:prstGeom prst="roundRect">
            <a:avLst>
              <a:gd name="adj" fmla="val 8000"/>
            </a:avLst>
          </a:prstGeom>
          <a:solidFill>
            <a:srgbClr val="FFFFFF"/>
          </a:solidFill>
          <a:ln w="15875">
            <a:solidFill>
              <a:srgbClr val="D5D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00200"/>
            <a:ext cx="3566160" cy="82296"/>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01368"/>
            <a:ext cx="3200400" cy="457200"/>
          </a:xfrm>
          <a:prstGeom prst="rect">
            <a:avLst/>
          </a:prstGeom>
          <a:noFill/>
        </p:spPr>
        <p:txBody>
          <a:bodyPr wrap="square" anchor="t" lIns="45720" rIns="45720">
            <a:spAutoFit/>
          </a:bodyPr>
          <a:lstStyle/>
          <a:p>
            <a:pPr algn="l">
              <a:lnSpc>
                <a:spcPct val="110000"/>
              </a:lnSpc>
            </a:pPr>
            <a:r>
              <a:rPr sz="2400" b="0">
                <a:solidFill>
                  <a:srgbClr val="111B21"/>
                </a:solidFill>
                <a:latin typeface="Segoe UI"/>
              </a:rPr>
              <a:t>💳</a:t>
            </a:r>
          </a:p>
        </p:txBody>
      </p:sp>
      <p:sp>
        <p:nvSpPr>
          <p:cNvPr id="10" name="TextBox 9"/>
          <p:cNvSpPr txBox="1"/>
          <p:nvPr/>
        </p:nvSpPr>
        <p:spPr>
          <a:xfrm>
            <a:off x="731520" y="2304288"/>
            <a:ext cx="3200400" cy="457200"/>
          </a:xfrm>
          <a:prstGeom prst="rect">
            <a:avLst/>
          </a:prstGeom>
          <a:noFill/>
        </p:spPr>
        <p:txBody>
          <a:bodyPr wrap="square" anchor="t" lIns="45720" rIns="45720">
            <a:spAutoFit/>
          </a:bodyPr>
          <a:lstStyle/>
          <a:p>
            <a:pPr algn="l">
              <a:lnSpc>
                <a:spcPct val="110000"/>
              </a:lnSpc>
            </a:pPr>
            <a:r>
              <a:rPr sz="1700" b="1">
                <a:solidFill>
                  <a:srgbClr val="D93025"/>
                </a:solidFill>
                <a:latin typeface="Segoe UI"/>
              </a:rPr>
              <a:t>Sensitive data in chat</a:t>
            </a:r>
          </a:p>
        </p:txBody>
      </p:sp>
      <p:sp>
        <p:nvSpPr>
          <p:cNvPr id="11" name="TextBox 10"/>
          <p:cNvSpPr txBox="1"/>
          <p:nvPr/>
        </p:nvSpPr>
        <p:spPr>
          <a:xfrm>
            <a:off x="731520" y="2743200"/>
            <a:ext cx="3200400" cy="1901952"/>
          </a:xfrm>
          <a:prstGeom prst="rect">
            <a:avLst/>
          </a:prstGeom>
          <a:noFill/>
        </p:spPr>
        <p:txBody>
          <a:bodyPr wrap="square" anchor="t" lIns="45720" rIns="45720">
            <a:spAutoFit/>
          </a:bodyPr>
          <a:lstStyle/>
          <a:p>
            <a:pPr algn="l">
              <a:lnSpc>
                <a:spcPct val="115000"/>
              </a:lnSpc>
            </a:pPr>
            <a:r>
              <a:rPr sz="1500" b="0">
                <a:solidFill>
                  <a:srgbClr val="111B21"/>
                </a:solidFill>
                <a:latin typeface="Segoe UI"/>
              </a:rPr>
              <a:t>Employees paste card numbers, Aadhaar, PAN and bank details to colleagues, often without thinking.</a:t>
            </a:r>
          </a:p>
        </p:txBody>
      </p:sp>
      <p:sp>
        <p:nvSpPr>
          <p:cNvPr id="12" name="Rounded Rectangle 11"/>
          <p:cNvSpPr/>
          <p:nvPr/>
        </p:nvSpPr>
        <p:spPr>
          <a:xfrm>
            <a:off x="4343400" y="1600200"/>
            <a:ext cx="3566160" cy="3108960"/>
          </a:xfrm>
          <a:prstGeom prst="roundRect">
            <a:avLst>
              <a:gd name="adj" fmla="val 8000"/>
            </a:avLst>
          </a:prstGeom>
          <a:solidFill>
            <a:srgbClr val="FFFFFF"/>
          </a:solidFill>
          <a:ln w="15875">
            <a:solidFill>
              <a:srgbClr val="D5D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600200"/>
            <a:ext cx="3566160" cy="82296"/>
          </a:xfrm>
          <a:prstGeom prst="rect">
            <a:avLst/>
          </a:prstGeom>
          <a:solidFill>
            <a:srgbClr val="8A6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801368"/>
            <a:ext cx="3200400" cy="457200"/>
          </a:xfrm>
          <a:prstGeom prst="rect">
            <a:avLst/>
          </a:prstGeom>
          <a:noFill/>
        </p:spPr>
        <p:txBody>
          <a:bodyPr wrap="square" anchor="t" lIns="45720" rIns="45720">
            <a:spAutoFit/>
          </a:bodyPr>
          <a:lstStyle/>
          <a:p>
            <a:pPr algn="l">
              <a:lnSpc>
                <a:spcPct val="110000"/>
              </a:lnSpc>
            </a:pPr>
            <a:r>
              <a:rPr sz="2400" b="0">
                <a:solidFill>
                  <a:srgbClr val="111B21"/>
                </a:solidFill>
                <a:latin typeface="Segoe UI"/>
              </a:rPr>
              <a:t>📋</a:t>
            </a:r>
          </a:p>
        </p:txBody>
      </p:sp>
      <p:sp>
        <p:nvSpPr>
          <p:cNvPr id="15" name="TextBox 14"/>
          <p:cNvSpPr txBox="1"/>
          <p:nvPr/>
        </p:nvSpPr>
        <p:spPr>
          <a:xfrm>
            <a:off x="4526280" y="2304288"/>
            <a:ext cx="3200400" cy="457200"/>
          </a:xfrm>
          <a:prstGeom prst="rect">
            <a:avLst/>
          </a:prstGeom>
          <a:noFill/>
        </p:spPr>
        <p:txBody>
          <a:bodyPr wrap="square" anchor="t" lIns="45720" rIns="45720">
            <a:spAutoFit/>
          </a:bodyPr>
          <a:lstStyle/>
          <a:p>
            <a:pPr algn="l">
              <a:lnSpc>
                <a:spcPct val="110000"/>
              </a:lnSpc>
            </a:pPr>
            <a:r>
              <a:rPr sz="1700" b="1">
                <a:solidFill>
                  <a:srgbClr val="8A6100"/>
                </a:solidFill>
                <a:latin typeface="Segoe UI"/>
              </a:rPr>
              <a:t>Data walks out the door</a:t>
            </a:r>
          </a:p>
        </p:txBody>
      </p:sp>
      <p:sp>
        <p:nvSpPr>
          <p:cNvPr id="16" name="TextBox 15"/>
          <p:cNvSpPr txBox="1"/>
          <p:nvPr/>
        </p:nvSpPr>
        <p:spPr>
          <a:xfrm>
            <a:off x="4526280" y="2743200"/>
            <a:ext cx="3200400" cy="1901952"/>
          </a:xfrm>
          <a:prstGeom prst="rect">
            <a:avLst/>
          </a:prstGeom>
          <a:noFill/>
        </p:spPr>
        <p:txBody>
          <a:bodyPr wrap="square" anchor="t" lIns="45720" rIns="45720">
            <a:spAutoFit/>
          </a:bodyPr>
          <a:lstStyle/>
          <a:p>
            <a:pPr algn="l">
              <a:lnSpc>
                <a:spcPct val="115000"/>
              </a:lnSpc>
            </a:pPr>
            <a:r>
              <a:rPr sz="1500" b="0">
                <a:solidFill>
                  <a:srgbClr val="111B21"/>
                </a:solidFill>
                <a:latin typeface="Segoe UI"/>
              </a:rPr>
              <a:t>Copy-paste into personal email, printing, screen-sharing and screenshots move data outside the organisation.</a:t>
            </a:r>
          </a:p>
        </p:txBody>
      </p:sp>
      <p:sp>
        <p:nvSpPr>
          <p:cNvPr id="17" name="Rounded Rectangle 16"/>
          <p:cNvSpPr/>
          <p:nvPr/>
        </p:nvSpPr>
        <p:spPr>
          <a:xfrm>
            <a:off x="8138160" y="1600200"/>
            <a:ext cx="3566160" cy="3108960"/>
          </a:xfrm>
          <a:prstGeom prst="roundRect">
            <a:avLst>
              <a:gd name="adj" fmla="val 8000"/>
            </a:avLst>
          </a:prstGeom>
          <a:solidFill>
            <a:srgbClr val="FFFFFF"/>
          </a:solidFill>
          <a:ln w="15875">
            <a:solidFill>
              <a:srgbClr val="D5D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1600200"/>
            <a:ext cx="3566160" cy="82296"/>
          </a:xfrm>
          <a:prstGeom prst="rect">
            <a:avLst/>
          </a:prstGeom>
          <a:solidFill>
            <a:srgbClr val="1A5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1801368"/>
            <a:ext cx="3200400" cy="457200"/>
          </a:xfrm>
          <a:prstGeom prst="rect">
            <a:avLst/>
          </a:prstGeom>
          <a:noFill/>
        </p:spPr>
        <p:txBody>
          <a:bodyPr wrap="square" anchor="t" lIns="45720" rIns="45720">
            <a:spAutoFit/>
          </a:bodyPr>
          <a:lstStyle/>
          <a:p>
            <a:pPr algn="l">
              <a:lnSpc>
                <a:spcPct val="110000"/>
              </a:lnSpc>
            </a:pPr>
            <a:r>
              <a:rPr sz="2400" b="0">
                <a:solidFill>
                  <a:srgbClr val="111B21"/>
                </a:solidFill>
                <a:latin typeface="Segoe UI"/>
              </a:rPr>
              <a:t>😠</a:t>
            </a:r>
          </a:p>
        </p:txBody>
      </p:sp>
      <p:sp>
        <p:nvSpPr>
          <p:cNvPr id="20" name="TextBox 19"/>
          <p:cNvSpPr txBox="1"/>
          <p:nvPr/>
        </p:nvSpPr>
        <p:spPr>
          <a:xfrm>
            <a:off x="8321040" y="2304288"/>
            <a:ext cx="3200400" cy="457200"/>
          </a:xfrm>
          <a:prstGeom prst="rect">
            <a:avLst/>
          </a:prstGeom>
          <a:noFill/>
        </p:spPr>
        <p:txBody>
          <a:bodyPr wrap="square" anchor="t" lIns="45720" rIns="45720">
            <a:spAutoFit/>
          </a:bodyPr>
          <a:lstStyle/>
          <a:p>
            <a:pPr algn="l">
              <a:lnSpc>
                <a:spcPct val="110000"/>
              </a:lnSpc>
            </a:pPr>
            <a:r>
              <a:rPr sz="1700" b="1">
                <a:solidFill>
                  <a:srgbClr val="1A56C4"/>
                </a:solidFill>
                <a:latin typeface="Segoe UI"/>
              </a:rPr>
              <a:t>Unprofessional tone</a:t>
            </a:r>
          </a:p>
        </p:txBody>
      </p:sp>
      <p:sp>
        <p:nvSpPr>
          <p:cNvPr id="21" name="TextBox 20"/>
          <p:cNvSpPr txBox="1"/>
          <p:nvPr/>
        </p:nvSpPr>
        <p:spPr>
          <a:xfrm>
            <a:off x="8321040" y="2743200"/>
            <a:ext cx="3200400" cy="1901952"/>
          </a:xfrm>
          <a:prstGeom prst="rect">
            <a:avLst/>
          </a:prstGeom>
          <a:noFill/>
        </p:spPr>
        <p:txBody>
          <a:bodyPr wrap="square" anchor="t" lIns="45720" rIns="45720">
            <a:spAutoFit/>
          </a:bodyPr>
          <a:lstStyle/>
          <a:p>
            <a:pPr algn="l">
              <a:lnSpc>
                <a:spcPct val="115000"/>
              </a:lnSpc>
            </a:pPr>
            <a:r>
              <a:rPr sz="1500" b="0">
                <a:solidFill>
                  <a:srgbClr val="111B21"/>
                </a:solidFill>
                <a:latin typeface="Segoe UI"/>
              </a:rPr>
              <a:t>Rude or aggressive messages damage teamwork and can become HR and harassment issues.</a:t>
            </a:r>
          </a:p>
        </p:txBody>
      </p:sp>
      <p:sp>
        <p:nvSpPr>
          <p:cNvPr id="22" name="Rounded Rectangle 21"/>
          <p:cNvSpPr/>
          <p:nvPr/>
        </p:nvSpPr>
        <p:spPr>
          <a:xfrm>
            <a:off x="548640" y="5074920"/>
            <a:ext cx="11155680" cy="1051560"/>
          </a:xfrm>
          <a:prstGeom prst="roundRect">
            <a:avLst>
              <a:gd name="adj" fmla="val 8000"/>
            </a:avLst>
          </a:prstGeom>
          <a:solidFill>
            <a:srgbClr val="E7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138928"/>
            <a:ext cx="10698480" cy="914400"/>
          </a:xfrm>
          <a:prstGeom prst="rect">
            <a:avLst/>
          </a:prstGeom>
          <a:noFill/>
        </p:spPr>
        <p:txBody>
          <a:bodyPr wrap="square" anchor="ctr" lIns="45720" rIns="45720">
            <a:spAutoFit/>
          </a:bodyPr>
          <a:lstStyle/>
          <a:p>
            <a:pPr algn="l">
              <a:lnSpc>
                <a:spcPct val="110000"/>
              </a:lnSpc>
            </a:pPr>
            <a:r>
              <a:rPr sz="1500" b="1">
                <a:solidFill>
                  <a:srgbClr val="075E54"/>
                </a:solidFill>
                <a:latin typeface="Segoe UI"/>
              </a:rPr>
              <a:t>Why it matters:  </a:t>
            </a:r>
            <a:r>
              <a:rPr sz="1500" b="0">
                <a:solidFill>
                  <a:srgbClr val="111B21"/>
                </a:solidFill>
                <a:latin typeface="Segoe UI"/>
              </a:rPr>
              <a:t>India's DPDP Act 2023, RBI card-data rules and PCI-DSS all require organisations to protect personal and financial data, including inside internal tools.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320040"/>
          </a:xfrm>
          <a:prstGeom prst="rect">
            <a:avLst/>
          </a:prstGeom>
          <a:noFill/>
        </p:spPr>
        <p:txBody>
          <a:bodyPr wrap="square" anchor="t" lIns="45720" rIns="45720">
            <a:spAutoFit/>
          </a:bodyPr>
          <a:lstStyle/>
          <a:p>
            <a:pPr algn="l">
              <a:lnSpc>
                <a:spcPct val="110000"/>
              </a:lnSpc>
            </a:pPr>
            <a:r>
              <a:rPr sz="1200" b="1">
                <a:solidFill>
                  <a:srgbClr val="128C7E"/>
                </a:solidFill>
                <a:latin typeface="Segoe UI"/>
              </a:rPr>
              <a:t>OUR SOLUTION</a:t>
            </a:r>
          </a:p>
        </p:txBody>
      </p:sp>
      <p:sp>
        <p:nvSpPr>
          <p:cNvPr id="4" name="TextBox 3"/>
          <p:cNvSpPr txBox="1"/>
          <p:nvPr/>
        </p:nvSpPr>
        <p:spPr>
          <a:xfrm>
            <a:off x="548640" y="530352"/>
            <a:ext cx="10972800" cy="731520"/>
          </a:xfrm>
          <a:prstGeom prst="rect">
            <a:avLst/>
          </a:prstGeom>
          <a:noFill/>
        </p:spPr>
        <p:txBody>
          <a:bodyPr wrap="square" anchor="t" lIns="45720" rIns="45720">
            <a:spAutoFit/>
          </a:bodyPr>
          <a:lstStyle/>
          <a:p>
            <a:pPr algn="l">
              <a:lnSpc>
                <a:spcPct val="110000"/>
              </a:lnSpc>
            </a:pPr>
            <a:r>
              <a:rPr sz="3000" b="1">
                <a:solidFill>
                  <a:srgbClr val="075E54"/>
                </a:solidFill>
                <a:latin typeface="Segoe UI"/>
              </a:rPr>
              <a:t>ShieldChat: WhatsApp for employees, with a security guard</a:t>
            </a:r>
          </a:p>
        </p:txBody>
      </p:sp>
      <p:sp>
        <p:nvSpPr>
          <p:cNvPr id="5" name="TextBox 4"/>
          <p:cNvSpPr txBox="1"/>
          <p:nvPr/>
        </p:nvSpPr>
        <p:spPr>
          <a:xfrm>
            <a:off x="548640" y="6446520"/>
            <a:ext cx="7315200" cy="274320"/>
          </a:xfrm>
          <a:prstGeom prst="rect">
            <a:avLst/>
          </a:prstGeom>
          <a:noFill/>
        </p:spPr>
        <p:txBody>
          <a:bodyPr wrap="square" anchor="t" lIns="45720" rIns="45720">
            <a:spAutoFit/>
          </a:bodyPr>
          <a:lstStyle/>
          <a:p>
            <a:pPr algn="l">
              <a:lnSpc>
                <a:spcPct val="110000"/>
              </a:lnSpc>
            </a:pPr>
            <a:r>
              <a:rPr sz="1000" b="0">
                <a:solidFill>
                  <a:srgbClr val="5B6B75"/>
                </a:solidFill>
                <a:latin typeface="Segoe UI"/>
              </a:rPr>
              <a:t>🛡 ShieldChat · Secure Enterprise Chat with DLP</a:t>
            </a:r>
          </a:p>
        </p:txBody>
      </p:sp>
      <p:sp>
        <p:nvSpPr>
          <p:cNvPr id="6" name="TextBox 5"/>
          <p:cNvSpPr txBox="1"/>
          <p:nvPr/>
        </p:nvSpPr>
        <p:spPr>
          <a:xfrm>
            <a:off x="10881360" y="6446520"/>
            <a:ext cx="914400" cy="274320"/>
          </a:xfrm>
          <a:prstGeom prst="rect">
            <a:avLst/>
          </a:prstGeom>
          <a:noFill/>
        </p:spPr>
        <p:txBody>
          <a:bodyPr wrap="square" anchor="t" lIns="45720" rIns="45720">
            <a:spAutoFit/>
          </a:bodyPr>
          <a:lstStyle/>
          <a:p>
            <a:pPr algn="r">
              <a:lnSpc>
                <a:spcPct val="110000"/>
              </a:lnSpc>
            </a:pPr>
            <a:r>
              <a:rPr sz="1000" b="0">
                <a:solidFill>
                  <a:srgbClr val="5B6B75"/>
                </a:solidFill>
                <a:latin typeface="Segoe UI"/>
              </a:rPr>
              <a:t>3 / 18</a:t>
            </a:r>
          </a:p>
        </p:txBody>
      </p:sp>
      <p:sp>
        <p:nvSpPr>
          <p:cNvPr id="7" name="TextBox 6"/>
          <p:cNvSpPr txBox="1"/>
          <p:nvPr/>
        </p:nvSpPr>
        <p:spPr>
          <a:xfrm>
            <a:off x="548640" y="1325880"/>
            <a:ext cx="11155680" cy="822960"/>
          </a:xfrm>
          <a:prstGeom prst="rect">
            <a:avLst/>
          </a:prstGeom>
          <a:noFill/>
        </p:spPr>
        <p:txBody>
          <a:bodyPr wrap="square" anchor="t" lIns="45720" rIns="45720">
            <a:spAutoFit/>
          </a:bodyPr>
          <a:lstStyle/>
          <a:p>
            <a:pPr algn="l">
              <a:lnSpc>
                <a:spcPct val="110000"/>
              </a:lnSpc>
            </a:pPr>
            <a:r>
              <a:rPr sz="1700" b="0">
                <a:solidFill>
                  <a:srgbClr val="5B6B75"/>
                </a:solidFill>
                <a:latin typeface="Segoe UI"/>
              </a:rPr>
              <a:t>A real-time internal chat app that blocks sensitive data before it is sent, discourages copying, and uses Google Gemini AI to keep communication professional.</a:t>
            </a:r>
          </a:p>
        </p:txBody>
      </p:sp>
      <p:sp>
        <p:nvSpPr>
          <p:cNvPr id="8" name="Rounded Rectangle 7"/>
          <p:cNvSpPr/>
          <p:nvPr/>
        </p:nvSpPr>
        <p:spPr>
          <a:xfrm>
            <a:off x="548640" y="2240280"/>
            <a:ext cx="2651760" cy="3017520"/>
          </a:xfrm>
          <a:prstGeom prst="roundRect">
            <a:avLst>
              <a:gd name="adj" fmla="val 8000"/>
            </a:avLst>
          </a:prstGeom>
          <a:solidFill>
            <a:srgbClr val="FFFFFF"/>
          </a:solidFill>
          <a:ln w="15875">
            <a:solidFill>
              <a:srgbClr val="D5D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40280"/>
            <a:ext cx="2651760" cy="82296"/>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441448"/>
            <a:ext cx="2286000" cy="457200"/>
          </a:xfrm>
          <a:prstGeom prst="rect">
            <a:avLst/>
          </a:prstGeom>
          <a:noFill/>
        </p:spPr>
        <p:txBody>
          <a:bodyPr wrap="square" anchor="t" lIns="45720" rIns="45720">
            <a:spAutoFit/>
          </a:bodyPr>
          <a:lstStyle/>
          <a:p>
            <a:pPr algn="l">
              <a:lnSpc>
                <a:spcPct val="110000"/>
              </a:lnSpc>
            </a:pPr>
            <a:r>
              <a:rPr sz="2400" b="0">
                <a:solidFill>
                  <a:srgbClr val="111B21"/>
                </a:solidFill>
                <a:latin typeface="Segoe UI"/>
              </a:rPr>
              <a:t>🔐</a:t>
            </a:r>
          </a:p>
        </p:txBody>
      </p:sp>
      <p:sp>
        <p:nvSpPr>
          <p:cNvPr id="11" name="TextBox 10"/>
          <p:cNvSpPr txBox="1"/>
          <p:nvPr/>
        </p:nvSpPr>
        <p:spPr>
          <a:xfrm>
            <a:off x="731520" y="2944368"/>
            <a:ext cx="2286000" cy="457200"/>
          </a:xfrm>
          <a:prstGeom prst="rect">
            <a:avLst/>
          </a:prstGeom>
          <a:noFill/>
        </p:spPr>
        <p:txBody>
          <a:bodyPr wrap="square" anchor="t" lIns="45720" rIns="45720">
            <a:spAutoFit/>
          </a:bodyPr>
          <a:lstStyle/>
          <a:p>
            <a:pPr algn="l">
              <a:lnSpc>
                <a:spcPct val="110000"/>
              </a:lnSpc>
            </a:pPr>
            <a:r>
              <a:rPr sz="1700" b="1">
                <a:solidFill>
                  <a:srgbClr val="128C7E"/>
                </a:solidFill>
                <a:latin typeface="Segoe UI"/>
              </a:rPr>
              <a:t>Secure Login</a:t>
            </a:r>
          </a:p>
        </p:txBody>
      </p:sp>
      <p:sp>
        <p:nvSpPr>
          <p:cNvPr id="12" name="TextBox 11"/>
          <p:cNvSpPr txBox="1"/>
          <p:nvPr/>
        </p:nvSpPr>
        <p:spPr>
          <a:xfrm>
            <a:off x="731520" y="3383280"/>
            <a:ext cx="2286000" cy="1810512"/>
          </a:xfrm>
          <a:prstGeom prst="rect">
            <a:avLst/>
          </a:prstGeom>
          <a:noFill/>
        </p:spPr>
        <p:txBody>
          <a:bodyPr wrap="square" anchor="t" lIns="45720" rIns="45720">
            <a:spAutoFit/>
          </a:bodyPr>
          <a:lstStyle/>
          <a:p>
            <a:pPr algn="l">
              <a:lnSpc>
                <a:spcPct val="115000"/>
              </a:lnSpc>
            </a:pPr>
            <a:r>
              <a:rPr sz="1400" b="0">
                <a:solidFill>
                  <a:srgbClr val="111B21"/>
                </a:solidFill>
                <a:latin typeface="Segoe UI"/>
              </a:rPr>
              <a:t>Hashed passwords
Company-domain only
Lockout after 5 failures</a:t>
            </a:r>
          </a:p>
        </p:txBody>
      </p:sp>
      <p:sp>
        <p:nvSpPr>
          <p:cNvPr id="13" name="Rounded Rectangle 12"/>
          <p:cNvSpPr/>
          <p:nvPr/>
        </p:nvSpPr>
        <p:spPr>
          <a:xfrm>
            <a:off x="3383280" y="2240280"/>
            <a:ext cx="2651760" cy="3017520"/>
          </a:xfrm>
          <a:prstGeom prst="roundRect">
            <a:avLst>
              <a:gd name="adj" fmla="val 8000"/>
            </a:avLst>
          </a:prstGeom>
          <a:solidFill>
            <a:srgbClr val="FFFFFF"/>
          </a:solidFill>
          <a:ln w="15875">
            <a:solidFill>
              <a:srgbClr val="D5D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2240280"/>
            <a:ext cx="2651760" cy="82296"/>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41448"/>
            <a:ext cx="2286000" cy="457200"/>
          </a:xfrm>
          <a:prstGeom prst="rect">
            <a:avLst/>
          </a:prstGeom>
          <a:noFill/>
        </p:spPr>
        <p:txBody>
          <a:bodyPr wrap="square" anchor="t" lIns="45720" rIns="45720">
            <a:spAutoFit/>
          </a:bodyPr>
          <a:lstStyle/>
          <a:p>
            <a:pPr algn="l">
              <a:lnSpc>
                <a:spcPct val="110000"/>
              </a:lnSpc>
            </a:pPr>
            <a:r>
              <a:rPr sz="2400" b="0">
                <a:solidFill>
                  <a:srgbClr val="111B21"/>
                </a:solidFill>
                <a:latin typeface="Segoe UI"/>
              </a:rPr>
              <a:t>🛡</a:t>
            </a:r>
          </a:p>
        </p:txBody>
      </p:sp>
      <p:sp>
        <p:nvSpPr>
          <p:cNvPr id="16" name="TextBox 15"/>
          <p:cNvSpPr txBox="1"/>
          <p:nvPr/>
        </p:nvSpPr>
        <p:spPr>
          <a:xfrm>
            <a:off x="3566160" y="2944368"/>
            <a:ext cx="2286000" cy="457200"/>
          </a:xfrm>
          <a:prstGeom prst="rect">
            <a:avLst/>
          </a:prstGeom>
          <a:noFill/>
        </p:spPr>
        <p:txBody>
          <a:bodyPr wrap="square" anchor="t" lIns="45720" rIns="45720">
            <a:spAutoFit/>
          </a:bodyPr>
          <a:lstStyle/>
          <a:p>
            <a:pPr algn="l">
              <a:lnSpc>
                <a:spcPct val="110000"/>
              </a:lnSpc>
            </a:pPr>
            <a:r>
              <a:rPr sz="1700" b="1">
                <a:solidFill>
                  <a:srgbClr val="D93025"/>
                </a:solidFill>
                <a:latin typeface="Segoe UI"/>
              </a:rPr>
              <a:t>2-Layer DLP</a:t>
            </a:r>
          </a:p>
        </p:txBody>
      </p:sp>
      <p:sp>
        <p:nvSpPr>
          <p:cNvPr id="17" name="TextBox 16"/>
          <p:cNvSpPr txBox="1"/>
          <p:nvPr/>
        </p:nvSpPr>
        <p:spPr>
          <a:xfrm>
            <a:off x="3566160" y="3383280"/>
            <a:ext cx="2286000" cy="1810512"/>
          </a:xfrm>
          <a:prstGeom prst="rect">
            <a:avLst/>
          </a:prstGeom>
          <a:noFill/>
        </p:spPr>
        <p:txBody>
          <a:bodyPr wrap="square" anchor="t" lIns="45720" rIns="45720">
            <a:spAutoFit/>
          </a:bodyPr>
          <a:lstStyle/>
          <a:p>
            <a:pPr algn="l">
              <a:lnSpc>
                <a:spcPct val="115000"/>
              </a:lnSpc>
            </a:pPr>
            <a:r>
              <a:rPr sz="1400" b="0">
                <a:solidFill>
                  <a:srgbClr val="111B21"/>
                </a:solidFill>
                <a:latin typeface="Segoe UI"/>
              </a:rPr>
              <a:t>Layer 1: local regex + checksums
Layer 2: Gemini AI context check</a:t>
            </a:r>
          </a:p>
        </p:txBody>
      </p:sp>
      <p:sp>
        <p:nvSpPr>
          <p:cNvPr id="18" name="Rounded Rectangle 17"/>
          <p:cNvSpPr/>
          <p:nvPr/>
        </p:nvSpPr>
        <p:spPr>
          <a:xfrm>
            <a:off x="6217920" y="2240280"/>
            <a:ext cx="2651760" cy="3017520"/>
          </a:xfrm>
          <a:prstGeom prst="roundRect">
            <a:avLst>
              <a:gd name="adj" fmla="val 8000"/>
            </a:avLst>
          </a:prstGeom>
          <a:solidFill>
            <a:srgbClr val="FFFFFF"/>
          </a:solidFill>
          <a:ln w="15875">
            <a:solidFill>
              <a:srgbClr val="D5D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2240280"/>
            <a:ext cx="2651760" cy="82296"/>
          </a:xfrm>
          <a:prstGeom prst="rect">
            <a:avLst/>
          </a:prstGeom>
          <a:solidFill>
            <a:srgbClr val="8A6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441448"/>
            <a:ext cx="2286000" cy="457200"/>
          </a:xfrm>
          <a:prstGeom prst="rect">
            <a:avLst/>
          </a:prstGeom>
          <a:noFill/>
        </p:spPr>
        <p:txBody>
          <a:bodyPr wrap="square" anchor="t" lIns="45720" rIns="45720">
            <a:spAutoFit/>
          </a:bodyPr>
          <a:lstStyle/>
          <a:p>
            <a:pPr algn="l">
              <a:lnSpc>
                <a:spcPct val="110000"/>
              </a:lnSpc>
            </a:pPr>
            <a:r>
              <a:rPr sz="2400" b="0">
                <a:solidFill>
                  <a:srgbClr val="111B21"/>
                </a:solidFill>
                <a:latin typeface="Segoe UI"/>
              </a:rPr>
              <a:t>🚫</a:t>
            </a:r>
          </a:p>
        </p:txBody>
      </p:sp>
      <p:sp>
        <p:nvSpPr>
          <p:cNvPr id="21" name="TextBox 20"/>
          <p:cNvSpPr txBox="1"/>
          <p:nvPr/>
        </p:nvSpPr>
        <p:spPr>
          <a:xfrm>
            <a:off x="6400800" y="2944368"/>
            <a:ext cx="2286000" cy="457200"/>
          </a:xfrm>
          <a:prstGeom prst="rect">
            <a:avLst/>
          </a:prstGeom>
          <a:noFill/>
        </p:spPr>
        <p:txBody>
          <a:bodyPr wrap="square" anchor="t" lIns="45720" rIns="45720">
            <a:spAutoFit/>
          </a:bodyPr>
          <a:lstStyle/>
          <a:p>
            <a:pPr algn="l">
              <a:lnSpc>
                <a:spcPct val="110000"/>
              </a:lnSpc>
            </a:pPr>
            <a:r>
              <a:rPr sz="1700" b="1">
                <a:solidFill>
                  <a:srgbClr val="8A6100"/>
                </a:solidFill>
                <a:latin typeface="Segoe UI"/>
              </a:rPr>
              <a:t>Anti-Exfiltration</a:t>
            </a:r>
          </a:p>
        </p:txBody>
      </p:sp>
      <p:sp>
        <p:nvSpPr>
          <p:cNvPr id="22" name="TextBox 21"/>
          <p:cNvSpPr txBox="1"/>
          <p:nvPr/>
        </p:nvSpPr>
        <p:spPr>
          <a:xfrm>
            <a:off x="6400800" y="3383280"/>
            <a:ext cx="2286000" cy="1810512"/>
          </a:xfrm>
          <a:prstGeom prst="rect">
            <a:avLst/>
          </a:prstGeom>
          <a:noFill/>
        </p:spPr>
        <p:txBody>
          <a:bodyPr wrap="square" anchor="t" lIns="45720" rIns="45720">
            <a:spAutoFit/>
          </a:bodyPr>
          <a:lstStyle/>
          <a:p>
            <a:pPr algn="l">
              <a:lnSpc>
                <a:spcPct val="115000"/>
              </a:lnSpc>
            </a:pPr>
            <a:r>
              <a:rPr sz="1400" b="0">
                <a:solidFill>
                  <a:srgbClr val="111B21"/>
                </a:solidFill>
                <a:latin typeface="Segoe UI"/>
              </a:rPr>
              <a:t>Copy &amp; print blocked
User watermark
Privacy blur</a:t>
            </a:r>
          </a:p>
        </p:txBody>
      </p:sp>
      <p:sp>
        <p:nvSpPr>
          <p:cNvPr id="23" name="Rounded Rectangle 22"/>
          <p:cNvSpPr/>
          <p:nvPr/>
        </p:nvSpPr>
        <p:spPr>
          <a:xfrm>
            <a:off x="9052560" y="2240280"/>
            <a:ext cx="2651760" cy="3017520"/>
          </a:xfrm>
          <a:prstGeom prst="roundRect">
            <a:avLst>
              <a:gd name="adj" fmla="val 8000"/>
            </a:avLst>
          </a:prstGeom>
          <a:solidFill>
            <a:srgbClr val="FFFFFF"/>
          </a:solidFill>
          <a:ln w="15875">
            <a:solidFill>
              <a:srgbClr val="D5D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52560" y="2240280"/>
            <a:ext cx="2651760" cy="82296"/>
          </a:xfrm>
          <a:prstGeom prst="rect">
            <a:avLst/>
          </a:prstGeom>
          <a:solidFill>
            <a:srgbClr val="1A5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5440" y="2441448"/>
            <a:ext cx="2286000" cy="457200"/>
          </a:xfrm>
          <a:prstGeom prst="rect">
            <a:avLst/>
          </a:prstGeom>
          <a:noFill/>
        </p:spPr>
        <p:txBody>
          <a:bodyPr wrap="square" anchor="t" lIns="45720" rIns="45720">
            <a:spAutoFit/>
          </a:bodyPr>
          <a:lstStyle/>
          <a:p>
            <a:pPr algn="l">
              <a:lnSpc>
                <a:spcPct val="110000"/>
              </a:lnSpc>
            </a:pPr>
            <a:r>
              <a:rPr sz="2400" b="0">
                <a:solidFill>
                  <a:srgbClr val="111B21"/>
                </a:solidFill>
                <a:latin typeface="Segoe UI"/>
              </a:rPr>
              <a:t>📊</a:t>
            </a:r>
          </a:p>
        </p:txBody>
      </p:sp>
      <p:sp>
        <p:nvSpPr>
          <p:cNvPr id="26" name="TextBox 25"/>
          <p:cNvSpPr txBox="1"/>
          <p:nvPr/>
        </p:nvSpPr>
        <p:spPr>
          <a:xfrm>
            <a:off x="9235440" y="2944368"/>
            <a:ext cx="2286000" cy="457200"/>
          </a:xfrm>
          <a:prstGeom prst="rect">
            <a:avLst/>
          </a:prstGeom>
          <a:noFill/>
        </p:spPr>
        <p:txBody>
          <a:bodyPr wrap="square" anchor="t" lIns="45720" rIns="45720">
            <a:spAutoFit/>
          </a:bodyPr>
          <a:lstStyle/>
          <a:p>
            <a:pPr algn="l">
              <a:lnSpc>
                <a:spcPct val="110000"/>
              </a:lnSpc>
            </a:pPr>
            <a:r>
              <a:rPr sz="1700" b="1">
                <a:solidFill>
                  <a:srgbClr val="1A56C4"/>
                </a:solidFill>
                <a:latin typeface="Segoe UI"/>
              </a:rPr>
              <a:t>Admin Monitoring</a:t>
            </a:r>
          </a:p>
        </p:txBody>
      </p:sp>
      <p:sp>
        <p:nvSpPr>
          <p:cNvPr id="27" name="TextBox 26"/>
          <p:cNvSpPr txBox="1"/>
          <p:nvPr/>
        </p:nvSpPr>
        <p:spPr>
          <a:xfrm>
            <a:off x="9235440" y="3383280"/>
            <a:ext cx="2286000" cy="1810512"/>
          </a:xfrm>
          <a:prstGeom prst="rect">
            <a:avLst/>
          </a:prstGeom>
          <a:noFill/>
        </p:spPr>
        <p:txBody>
          <a:bodyPr wrap="square" anchor="t" lIns="45720" rIns="45720">
            <a:spAutoFit/>
          </a:bodyPr>
          <a:lstStyle/>
          <a:p>
            <a:pPr algn="l">
              <a:lnSpc>
                <a:spcPct val="115000"/>
              </a:lnSpc>
            </a:pPr>
            <a:r>
              <a:rPr sz="1400" b="0">
                <a:solidFill>
                  <a:srgbClr val="111B21"/>
                </a:solidFill>
                <a:latin typeface="Segoe UI"/>
              </a:rPr>
              <a:t>Live incident dashboard
Masked values only
Role-protected</a:t>
            </a:r>
          </a:p>
        </p:txBody>
      </p:sp>
      <p:sp>
        <p:nvSpPr>
          <p:cNvPr id="28" name="TextBox 27"/>
          <p:cNvSpPr txBox="1"/>
          <p:nvPr/>
        </p:nvSpPr>
        <p:spPr>
          <a:xfrm>
            <a:off x="548640" y="5532120"/>
            <a:ext cx="11155680" cy="548640"/>
          </a:xfrm>
          <a:prstGeom prst="rect">
            <a:avLst/>
          </a:prstGeom>
          <a:noFill/>
        </p:spPr>
        <p:txBody>
          <a:bodyPr wrap="square" anchor="t" lIns="45720" rIns="45720">
            <a:spAutoFit/>
          </a:bodyPr>
          <a:lstStyle/>
          <a:p>
            <a:pPr algn="l">
              <a:lnSpc>
                <a:spcPct val="110000"/>
              </a:lnSpc>
            </a:pPr>
            <a:r>
              <a:rPr sz="1500" b="1">
                <a:solidFill>
                  <a:srgbClr val="075E54"/>
                </a:solidFill>
                <a:latin typeface="Segoe UI"/>
              </a:rPr>
              <a:t>Plus: </a:t>
            </a:r>
            <a:r>
              <a:rPr sz="1500" b="0">
                <a:solidFill>
                  <a:srgbClr val="111B21"/>
                </a:solidFill>
                <a:latin typeface="Segoe UI"/>
              </a:rPr>
              <a:t>an AI tone assistant that suggests a polite rewrite (it never blocks).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320040"/>
          </a:xfrm>
          <a:prstGeom prst="rect">
            <a:avLst/>
          </a:prstGeom>
          <a:noFill/>
        </p:spPr>
        <p:txBody>
          <a:bodyPr wrap="square" anchor="t" lIns="45720" rIns="45720">
            <a:spAutoFit/>
          </a:bodyPr>
          <a:lstStyle/>
          <a:p>
            <a:pPr algn="l">
              <a:lnSpc>
                <a:spcPct val="110000"/>
              </a:lnSpc>
            </a:pPr>
            <a:r>
              <a:rPr sz="1200" b="1">
                <a:solidFill>
                  <a:srgbClr val="128C7E"/>
                </a:solidFill>
                <a:latin typeface="Segoe UI"/>
              </a:rPr>
              <a:t>HOW IT IS BUILT</a:t>
            </a:r>
          </a:p>
        </p:txBody>
      </p:sp>
      <p:sp>
        <p:nvSpPr>
          <p:cNvPr id="4" name="TextBox 3"/>
          <p:cNvSpPr txBox="1"/>
          <p:nvPr/>
        </p:nvSpPr>
        <p:spPr>
          <a:xfrm>
            <a:off x="548640" y="530352"/>
            <a:ext cx="10972800" cy="731520"/>
          </a:xfrm>
          <a:prstGeom prst="rect">
            <a:avLst/>
          </a:prstGeom>
          <a:noFill/>
        </p:spPr>
        <p:txBody>
          <a:bodyPr wrap="square" anchor="t" lIns="45720" rIns="45720">
            <a:spAutoFit/>
          </a:bodyPr>
          <a:lstStyle/>
          <a:p>
            <a:pPr algn="l">
              <a:lnSpc>
                <a:spcPct val="110000"/>
              </a:lnSpc>
            </a:pPr>
            <a:r>
              <a:rPr sz="3000" b="1">
                <a:solidFill>
                  <a:srgbClr val="075E54"/>
                </a:solidFill>
                <a:latin typeface="Segoe UI"/>
              </a:rPr>
              <a:t>Technology stack</a:t>
            </a:r>
          </a:p>
        </p:txBody>
      </p:sp>
      <p:sp>
        <p:nvSpPr>
          <p:cNvPr id="5" name="TextBox 4"/>
          <p:cNvSpPr txBox="1"/>
          <p:nvPr/>
        </p:nvSpPr>
        <p:spPr>
          <a:xfrm>
            <a:off x="548640" y="6446520"/>
            <a:ext cx="7315200" cy="274320"/>
          </a:xfrm>
          <a:prstGeom prst="rect">
            <a:avLst/>
          </a:prstGeom>
          <a:noFill/>
        </p:spPr>
        <p:txBody>
          <a:bodyPr wrap="square" anchor="t" lIns="45720" rIns="45720">
            <a:spAutoFit/>
          </a:bodyPr>
          <a:lstStyle/>
          <a:p>
            <a:pPr algn="l">
              <a:lnSpc>
                <a:spcPct val="110000"/>
              </a:lnSpc>
            </a:pPr>
            <a:r>
              <a:rPr sz="1000" b="0">
                <a:solidFill>
                  <a:srgbClr val="5B6B75"/>
                </a:solidFill>
                <a:latin typeface="Segoe UI"/>
              </a:rPr>
              <a:t>🛡 ShieldChat · Secure Enterprise Chat with DLP</a:t>
            </a:r>
          </a:p>
        </p:txBody>
      </p:sp>
      <p:sp>
        <p:nvSpPr>
          <p:cNvPr id="6" name="TextBox 5"/>
          <p:cNvSpPr txBox="1"/>
          <p:nvPr/>
        </p:nvSpPr>
        <p:spPr>
          <a:xfrm>
            <a:off x="10881360" y="6446520"/>
            <a:ext cx="914400" cy="274320"/>
          </a:xfrm>
          <a:prstGeom prst="rect">
            <a:avLst/>
          </a:prstGeom>
          <a:noFill/>
        </p:spPr>
        <p:txBody>
          <a:bodyPr wrap="square" anchor="t" lIns="45720" rIns="45720">
            <a:spAutoFit/>
          </a:bodyPr>
          <a:lstStyle/>
          <a:p>
            <a:pPr algn="r">
              <a:lnSpc>
                <a:spcPct val="110000"/>
              </a:lnSpc>
            </a:pPr>
            <a:r>
              <a:rPr sz="1000" b="0">
                <a:solidFill>
                  <a:srgbClr val="5B6B75"/>
                </a:solidFill>
                <a:latin typeface="Segoe UI"/>
              </a:rPr>
              <a:t>4 / 18</a:t>
            </a:r>
          </a:p>
        </p:txBody>
      </p:sp>
      <p:sp>
        <p:nvSpPr>
          <p:cNvPr id="7" name="Rounded Rectangle 6"/>
          <p:cNvSpPr/>
          <p:nvPr/>
        </p:nvSpPr>
        <p:spPr>
          <a:xfrm>
            <a:off x="548640" y="1463040"/>
            <a:ext cx="5440680" cy="1325880"/>
          </a:xfrm>
          <a:prstGeom prst="roundRect">
            <a:avLst>
              <a:gd name="adj" fmla="val 8000"/>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63040"/>
            <a:ext cx="109728" cy="1325880"/>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91056"/>
            <a:ext cx="4937760" cy="320040"/>
          </a:xfrm>
          <a:prstGeom prst="rect">
            <a:avLst/>
          </a:prstGeom>
          <a:noFill/>
        </p:spPr>
        <p:txBody>
          <a:bodyPr wrap="square" anchor="t" lIns="45720" rIns="45720">
            <a:spAutoFit/>
          </a:bodyPr>
          <a:lstStyle/>
          <a:p>
            <a:pPr algn="l">
              <a:lnSpc>
                <a:spcPct val="110000"/>
              </a:lnSpc>
            </a:pPr>
            <a:r>
              <a:rPr sz="1200" b="1">
                <a:solidFill>
                  <a:srgbClr val="128C7E"/>
                </a:solidFill>
                <a:latin typeface="Segoe UI"/>
              </a:rPr>
              <a:t>FRONTEND</a:t>
            </a:r>
          </a:p>
        </p:txBody>
      </p:sp>
      <p:sp>
        <p:nvSpPr>
          <p:cNvPr id="10" name="TextBox 9"/>
          <p:cNvSpPr txBox="1"/>
          <p:nvPr/>
        </p:nvSpPr>
        <p:spPr>
          <a:xfrm>
            <a:off x="868680" y="1874520"/>
            <a:ext cx="4937760" cy="457200"/>
          </a:xfrm>
          <a:prstGeom prst="rect">
            <a:avLst/>
          </a:prstGeom>
          <a:noFill/>
        </p:spPr>
        <p:txBody>
          <a:bodyPr wrap="square" anchor="t" lIns="45720" rIns="45720">
            <a:spAutoFit/>
          </a:bodyPr>
          <a:lstStyle/>
          <a:p>
            <a:pPr algn="l">
              <a:lnSpc>
                <a:spcPct val="110000"/>
              </a:lnSpc>
            </a:pPr>
            <a:r>
              <a:rPr sz="1900" b="1">
                <a:solidFill>
                  <a:srgbClr val="111B21"/>
                </a:solidFill>
                <a:latin typeface="Segoe UI"/>
              </a:rPr>
              <a:t>HTML · CSS · Vanilla JavaScript</a:t>
            </a:r>
          </a:p>
        </p:txBody>
      </p:sp>
      <p:sp>
        <p:nvSpPr>
          <p:cNvPr id="11" name="TextBox 10"/>
          <p:cNvSpPr txBox="1"/>
          <p:nvPr/>
        </p:nvSpPr>
        <p:spPr>
          <a:xfrm>
            <a:off x="868680" y="2304288"/>
            <a:ext cx="4937760" cy="365760"/>
          </a:xfrm>
          <a:prstGeom prst="rect">
            <a:avLst/>
          </a:prstGeom>
          <a:noFill/>
        </p:spPr>
        <p:txBody>
          <a:bodyPr wrap="square" anchor="t" lIns="45720" rIns="45720">
            <a:spAutoFit/>
          </a:bodyPr>
          <a:lstStyle/>
          <a:p>
            <a:pPr algn="l">
              <a:lnSpc>
                <a:spcPct val="110000"/>
              </a:lnSpc>
            </a:pPr>
            <a:r>
              <a:rPr sz="1300" b="0">
                <a:solidFill>
                  <a:srgbClr val="5B6B75"/>
                </a:solidFill>
                <a:latin typeface="Segoe UI"/>
              </a:rPr>
              <a:t>No framework, no build step</a:t>
            </a:r>
          </a:p>
        </p:txBody>
      </p:sp>
      <p:sp>
        <p:nvSpPr>
          <p:cNvPr id="12" name="Rounded Rectangle 11"/>
          <p:cNvSpPr/>
          <p:nvPr/>
        </p:nvSpPr>
        <p:spPr>
          <a:xfrm>
            <a:off x="6217920" y="1463040"/>
            <a:ext cx="5440680" cy="1325880"/>
          </a:xfrm>
          <a:prstGeom prst="roundRect">
            <a:avLst>
              <a:gd name="adj" fmla="val 8000"/>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463040"/>
            <a:ext cx="109728" cy="1325880"/>
          </a:xfrm>
          <a:prstGeom prst="rect">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591056"/>
            <a:ext cx="4937760" cy="320040"/>
          </a:xfrm>
          <a:prstGeom prst="rect">
            <a:avLst/>
          </a:prstGeom>
          <a:noFill/>
        </p:spPr>
        <p:txBody>
          <a:bodyPr wrap="square" anchor="t" lIns="45720" rIns="45720">
            <a:spAutoFit/>
          </a:bodyPr>
          <a:lstStyle/>
          <a:p>
            <a:pPr algn="l">
              <a:lnSpc>
                <a:spcPct val="110000"/>
              </a:lnSpc>
            </a:pPr>
            <a:r>
              <a:rPr sz="1200" b="1">
                <a:solidFill>
                  <a:srgbClr val="075E54"/>
                </a:solidFill>
                <a:latin typeface="Segoe UI"/>
              </a:rPr>
              <a:t>BACKEND</a:t>
            </a:r>
          </a:p>
        </p:txBody>
      </p:sp>
      <p:sp>
        <p:nvSpPr>
          <p:cNvPr id="15" name="TextBox 14"/>
          <p:cNvSpPr txBox="1"/>
          <p:nvPr/>
        </p:nvSpPr>
        <p:spPr>
          <a:xfrm>
            <a:off x="6537960" y="1874520"/>
            <a:ext cx="4937760" cy="457200"/>
          </a:xfrm>
          <a:prstGeom prst="rect">
            <a:avLst/>
          </a:prstGeom>
          <a:noFill/>
        </p:spPr>
        <p:txBody>
          <a:bodyPr wrap="square" anchor="t" lIns="45720" rIns="45720">
            <a:spAutoFit/>
          </a:bodyPr>
          <a:lstStyle/>
          <a:p>
            <a:pPr algn="l">
              <a:lnSpc>
                <a:spcPct val="110000"/>
              </a:lnSpc>
            </a:pPr>
            <a:r>
              <a:rPr sz="1900" b="1">
                <a:solidFill>
                  <a:srgbClr val="111B21"/>
                </a:solidFill>
                <a:latin typeface="Segoe UI"/>
              </a:rPr>
              <a:t>Python Flask + Flask-SocketIO</a:t>
            </a:r>
          </a:p>
        </p:txBody>
      </p:sp>
      <p:sp>
        <p:nvSpPr>
          <p:cNvPr id="16" name="TextBox 15"/>
          <p:cNvSpPr txBox="1"/>
          <p:nvPr/>
        </p:nvSpPr>
        <p:spPr>
          <a:xfrm>
            <a:off x="6537960" y="2304288"/>
            <a:ext cx="4937760" cy="365760"/>
          </a:xfrm>
          <a:prstGeom prst="rect">
            <a:avLst/>
          </a:prstGeom>
          <a:noFill/>
        </p:spPr>
        <p:txBody>
          <a:bodyPr wrap="square" anchor="t" lIns="45720" rIns="45720">
            <a:spAutoFit/>
          </a:bodyPr>
          <a:lstStyle/>
          <a:p>
            <a:pPr algn="l">
              <a:lnSpc>
                <a:spcPct val="110000"/>
              </a:lnSpc>
            </a:pPr>
            <a:r>
              <a:rPr sz="1300" b="0">
                <a:solidFill>
                  <a:srgbClr val="5B6B75"/>
                </a:solidFill>
                <a:latin typeface="Segoe UI"/>
              </a:rPr>
              <a:t>Real-time messaging (threading mode)</a:t>
            </a:r>
          </a:p>
        </p:txBody>
      </p:sp>
      <p:sp>
        <p:nvSpPr>
          <p:cNvPr id="17" name="Rounded Rectangle 16"/>
          <p:cNvSpPr/>
          <p:nvPr/>
        </p:nvSpPr>
        <p:spPr>
          <a:xfrm>
            <a:off x="548640" y="3017520"/>
            <a:ext cx="5440680" cy="1325880"/>
          </a:xfrm>
          <a:prstGeom prst="roundRect">
            <a:avLst>
              <a:gd name="adj" fmla="val 8000"/>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20"/>
            <a:ext cx="109728" cy="1325880"/>
          </a:xfrm>
          <a:prstGeom prst="rect">
            <a:avLst/>
          </a:prstGeom>
          <a:solidFill>
            <a:srgbClr val="5B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145536"/>
            <a:ext cx="4937760" cy="320040"/>
          </a:xfrm>
          <a:prstGeom prst="rect">
            <a:avLst/>
          </a:prstGeom>
          <a:noFill/>
        </p:spPr>
        <p:txBody>
          <a:bodyPr wrap="square" anchor="t" lIns="45720" rIns="45720">
            <a:spAutoFit/>
          </a:bodyPr>
          <a:lstStyle/>
          <a:p>
            <a:pPr algn="l">
              <a:lnSpc>
                <a:spcPct val="110000"/>
              </a:lnSpc>
            </a:pPr>
            <a:r>
              <a:rPr sz="1200" b="1">
                <a:solidFill>
                  <a:srgbClr val="5B6B75"/>
                </a:solidFill>
                <a:latin typeface="Segoe UI"/>
              </a:rPr>
              <a:t>DATABASE</a:t>
            </a:r>
          </a:p>
        </p:txBody>
      </p:sp>
      <p:sp>
        <p:nvSpPr>
          <p:cNvPr id="20" name="TextBox 19"/>
          <p:cNvSpPr txBox="1"/>
          <p:nvPr/>
        </p:nvSpPr>
        <p:spPr>
          <a:xfrm>
            <a:off x="868680" y="3429000"/>
            <a:ext cx="4937760" cy="457200"/>
          </a:xfrm>
          <a:prstGeom prst="rect">
            <a:avLst/>
          </a:prstGeom>
          <a:noFill/>
        </p:spPr>
        <p:txBody>
          <a:bodyPr wrap="square" anchor="t" lIns="45720" rIns="45720">
            <a:spAutoFit/>
          </a:bodyPr>
          <a:lstStyle/>
          <a:p>
            <a:pPr algn="l">
              <a:lnSpc>
                <a:spcPct val="110000"/>
              </a:lnSpc>
            </a:pPr>
            <a:r>
              <a:rPr sz="1900" b="1">
                <a:solidFill>
                  <a:srgbClr val="111B21"/>
                </a:solidFill>
                <a:latin typeface="Segoe UI"/>
              </a:rPr>
              <a:t>SQLite</a:t>
            </a:r>
          </a:p>
        </p:txBody>
      </p:sp>
      <p:sp>
        <p:nvSpPr>
          <p:cNvPr id="21" name="TextBox 20"/>
          <p:cNvSpPr txBox="1"/>
          <p:nvPr/>
        </p:nvSpPr>
        <p:spPr>
          <a:xfrm>
            <a:off x="868680" y="3858768"/>
            <a:ext cx="4937760" cy="365760"/>
          </a:xfrm>
          <a:prstGeom prst="rect">
            <a:avLst/>
          </a:prstGeom>
          <a:noFill/>
        </p:spPr>
        <p:txBody>
          <a:bodyPr wrap="square" anchor="t" lIns="45720" rIns="45720">
            <a:spAutoFit/>
          </a:bodyPr>
          <a:lstStyle/>
          <a:p>
            <a:pPr algn="l">
              <a:lnSpc>
                <a:spcPct val="110000"/>
              </a:lnSpc>
            </a:pPr>
            <a:r>
              <a:rPr sz="1300" b="0">
                <a:solidFill>
                  <a:srgbClr val="5B6B75"/>
                </a:solidFill>
                <a:latin typeface="Segoe UI"/>
              </a:rPr>
              <a:t>Users, messages, incidents in one file</a:t>
            </a:r>
          </a:p>
        </p:txBody>
      </p:sp>
      <p:sp>
        <p:nvSpPr>
          <p:cNvPr id="22" name="Rounded Rectangle 21"/>
          <p:cNvSpPr/>
          <p:nvPr/>
        </p:nvSpPr>
        <p:spPr>
          <a:xfrm>
            <a:off x="6217920" y="3017520"/>
            <a:ext cx="5440680" cy="1325880"/>
          </a:xfrm>
          <a:prstGeom prst="roundRect">
            <a:avLst>
              <a:gd name="adj" fmla="val 8000"/>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3017520"/>
            <a:ext cx="109728" cy="1325880"/>
          </a:xfrm>
          <a:prstGeom prst="rect">
            <a:avLst/>
          </a:prstGeom>
          <a:solidFill>
            <a:srgbClr val="1A5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3145536"/>
            <a:ext cx="4937760" cy="320040"/>
          </a:xfrm>
          <a:prstGeom prst="rect">
            <a:avLst/>
          </a:prstGeom>
          <a:noFill/>
        </p:spPr>
        <p:txBody>
          <a:bodyPr wrap="square" anchor="t" lIns="45720" rIns="45720">
            <a:spAutoFit/>
          </a:bodyPr>
          <a:lstStyle/>
          <a:p>
            <a:pPr algn="l">
              <a:lnSpc>
                <a:spcPct val="110000"/>
              </a:lnSpc>
            </a:pPr>
            <a:r>
              <a:rPr sz="1200" b="1">
                <a:solidFill>
                  <a:srgbClr val="1A56C4"/>
                </a:solidFill>
                <a:latin typeface="Segoe UI"/>
              </a:rPr>
              <a:t>AI</a:t>
            </a:r>
          </a:p>
        </p:txBody>
      </p:sp>
      <p:sp>
        <p:nvSpPr>
          <p:cNvPr id="25" name="TextBox 24"/>
          <p:cNvSpPr txBox="1"/>
          <p:nvPr/>
        </p:nvSpPr>
        <p:spPr>
          <a:xfrm>
            <a:off x="6537960" y="3429000"/>
            <a:ext cx="4937760" cy="457200"/>
          </a:xfrm>
          <a:prstGeom prst="rect">
            <a:avLst/>
          </a:prstGeom>
          <a:noFill/>
        </p:spPr>
        <p:txBody>
          <a:bodyPr wrap="square" anchor="t" lIns="45720" rIns="45720">
            <a:spAutoFit/>
          </a:bodyPr>
          <a:lstStyle/>
          <a:p>
            <a:pPr algn="l">
              <a:lnSpc>
                <a:spcPct val="110000"/>
              </a:lnSpc>
            </a:pPr>
            <a:r>
              <a:rPr sz="1900" b="1">
                <a:solidFill>
                  <a:srgbClr val="111B21"/>
                </a:solidFill>
                <a:latin typeface="Segoe UI"/>
              </a:rPr>
              <a:t>Google Gemini API (google-genai)</a:t>
            </a:r>
          </a:p>
        </p:txBody>
      </p:sp>
      <p:sp>
        <p:nvSpPr>
          <p:cNvPr id="26" name="TextBox 25"/>
          <p:cNvSpPr txBox="1"/>
          <p:nvPr/>
        </p:nvSpPr>
        <p:spPr>
          <a:xfrm>
            <a:off x="6537960" y="3858768"/>
            <a:ext cx="4937760" cy="365760"/>
          </a:xfrm>
          <a:prstGeom prst="rect">
            <a:avLst/>
          </a:prstGeom>
          <a:noFill/>
        </p:spPr>
        <p:txBody>
          <a:bodyPr wrap="square" anchor="t" lIns="45720" rIns="45720">
            <a:spAutoFit/>
          </a:bodyPr>
          <a:lstStyle/>
          <a:p>
            <a:pPr algn="l">
              <a:lnSpc>
                <a:spcPct val="110000"/>
              </a:lnSpc>
            </a:pPr>
            <a:r>
              <a:rPr sz="1300" b="0">
                <a:solidFill>
                  <a:srgbClr val="5B6B75"/>
                </a:solidFill>
                <a:latin typeface="Segoe UI"/>
              </a:rPr>
              <a:t>Model: gemini-3.5-flash-lite (from .env)</a:t>
            </a:r>
          </a:p>
        </p:txBody>
      </p:sp>
      <p:sp>
        <p:nvSpPr>
          <p:cNvPr id="27" name="Rounded Rectangle 26"/>
          <p:cNvSpPr/>
          <p:nvPr/>
        </p:nvSpPr>
        <p:spPr>
          <a:xfrm>
            <a:off x="548640" y="4572000"/>
            <a:ext cx="5440680" cy="1325880"/>
          </a:xfrm>
          <a:prstGeom prst="roundRect">
            <a:avLst>
              <a:gd name="adj" fmla="val 8000"/>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4572000"/>
            <a:ext cx="109728" cy="1325880"/>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4700016"/>
            <a:ext cx="4937760" cy="320040"/>
          </a:xfrm>
          <a:prstGeom prst="rect">
            <a:avLst/>
          </a:prstGeom>
          <a:noFill/>
        </p:spPr>
        <p:txBody>
          <a:bodyPr wrap="square" anchor="t" lIns="45720" rIns="45720">
            <a:spAutoFit/>
          </a:bodyPr>
          <a:lstStyle/>
          <a:p>
            <a:pPr algn="l">
              <a:lnSpc>
                <a:spcPct val="110000"/>
              </a:lnSpc>
            </a:pPr>
            <a:r>
              <a:rPr sz="1200" b="1">
                <a:solidFill>
                  <a:srgbClr val="D93025"/>
                </a:solidFill>
                <a:latin typeface="Segoe UI"/>
              </a:rPr>
              <a:t>SECURITY</a:t>
            </a:r>
          </a:p>
        </p:txBody>
      </p:sp>
      <p:sp>
        <p:nvSpPr>
          <p:cNvPr id="30" name="TextBox 29"/>
          <p:cNvSpPr txBox="1"/>
          <p:nvPr/>
        </p:nvSpPr>
        <p:spPr>
          <a:xfrm>
            <a:off x="868680" y="4983480"/>
            <a:ext cx="4937760" cy="457200"/>
          </a:xfrm>
          <a:prstGeom prst="rect">
            <a:avLst/>
          </a:prstGeom>
          <a:noFill/>
        </p:spPr>
        <p:txBody>
          <a:bodyPr wrap="square" anchor="t" lIns="45720" rIns="45720">
            <a:spAutoFit/>
          </a:bodyPr>
          <a:lstStyle/>
          <a:p>
            <a:pPr algn="l">
              <a:lnSpc>
                <a:spcPct val="110000"/>
              </a:lnSpc>
            </a:pPr>
            <a:r>
              <a:rPr sz="1900" b="1">
                <a:solidFill>
                  <a:srgbClr val="111B21"/>
                </a:solidFill>
                <a:latin typeface="Segoe UI"/>
              </a:rPr>
              <a:t>Werkzeug scrypt · python-dotenv</a:t>
            </a:r>
          </a:p>
        </p:txBody>
      </p:sp>
      <p:sp>
        <p:nvSpPr>
          <p:cNvPr id="31" name="TextBox 30"/>
          <p:cNvSpPr txBox="1"/>
          <p:nvPr/>
        </p:nvSpPr>
        <p:spPr>
          <a:xfrm>
            <a:off x="868680" y="5413248"/>
            <a:ext cx="4937760" cy="365760"/>
          </a:xfrm>
          <a:prstGeom prst="rect">
            <a:avLst/>
          </a:prstGeom>
          <a:noFill/>
        </p:spPr>
        <p:txBody>
          <a:bodyPr wrap="square" anchor="t" lIns="45720" rIns="45720">
            <a:spAutoFit/>
          </a:bodyPr>
          <a:lstStyle/>
          <a:p>
            <a:pPr algn="l">
              <a:lnSpc>
                <a:spcPct val="110000"/>
              </a:lnSpc>
            </a:pPr>
            <a:r>
              <a:rPr sz="1300" b="0">
                <a:solidFill>
                  <a:srgbClr val="5B6B75"/>
                </a:solidFill>
                <a:latin typeface="Segoe UI"/>
              </a:rPr>
              <a:t>Password hashing, secrets in .env</a:t>
            </a:r>
          </a:p>
        </p:txBody>
      </p:sp>
      <p:sp>
        <p:nvSpPr>
          <p:cNvPr id="32" name="Rounded Rectangle 31"/>
          <p:cNvSpPr/>
          <p:nvPr/>
        </p:nvSpPr>
        <p:spPr>
          <a:xfrm>
            <a:off x="6217920" y="4572000"/>
            <a:ext cx="5440680" cy="1325880"/>
          </a:xfrm>
          <a:prstGeom prst="roundRect">
            <a:avLst>
              <a:gd name="adj" fmla="val 8000"/>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7920" y="4572000"/>
            <a:ext cx="109728" cy="1325880"/>
          </a:xfrm>
          <a:prstGeom prst="rect">
            <a:avLst/>
          </a:prstGeom>
          <a:solidFill>
            <a:srgbClr val="8A6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37960" y="4700016"/>
            <a:ext cx="4937760" cy="320040"/>
          </a:xfrm>
          <a:prstGeom prst="rect">
            <a:avLst/>
          </a:prstGeom>
          <a:noFill/>
        </p:spPr>
        <p:txBody>
          <a:bodyPr wrap="square" anchor="t" lIns="45720" rIns="45720">
            <a:spAutoFit/>
          </a:bodyPr>
          <a:lstStyle/>
          <a:p>
            <a:pPr algn="l">
              <a:lnSpc>
                <a:spcPct val="110000"/>
              </a:lnSpc>
            </a:pPr>
            <a:r>
              <a:rPr sz="1200" b="1">
                <a:solidFill>
                  <a:srgbClr val="8A6100"/>
                </a:solidFill>
                <a:latin typeface="Segoe UI"/>
              </a:rPr>
              <a:t>TESTING</a:t>
            </a:r>
          </a:p>
        </p:txBody>
      </p:sp>
      <p:sp>
        <p:nvSpPr>
          <p:cNvPr id="35" name="TextBox 34"/>
          <p:cNvSpPr txBox="1"/>
          <p:nvPr/>
        </p:nvSpPr>
        <p:spPr>
          <a:xfrm>
            <a:off x="6537960" y="4983480"/>
            <a:ext cx="4937760" cy="457200"/>
          </a:xfrm>
          <a:prstGeom prst="rect">
            <a:avLst/>
          </a:prstGeom>
          <a:noFill/>
        </p:spPr>
        <p:txBody>
          <a:bodyPr wrap="square" anchor="t" lIns="45720" rIns="45720">
            <a:spAutoFit/>
          </a:bodyPr>
          <a:lstStyle/>
          <a:p>
            <a:pPr algn="l">
              <a:lnSpc>
                <a:spcPct val="110000"/>
              </a:lnSpc>
            </a:pPr>
            <a:r>
              <a:rPr sz="1900" b="1">
                <a:solidFill>
                  <a:srgbClr val="111B21"/>
                </a:solidFill>
                <a:latin typeface="Segoe UI"/>
              </a:rPr>
              <a:t>pytest</a:t>
            </a:r>
          </a:p>
        </p:txBody>
      </p:sp>
      <p:sp>
        <p:nvSpPr>
          <p:cNvPr id="36" name="TextBox 35"/>
          <p:cNvSpPr txBox="1"/>
          <p:nvPr/>
        </p:nvSpPr>
        <p:spPr>
          <a:xfrm>
            <a:off x="6537960" y="5413248"/>
            <a:ext cx="4937760" cy="365760"/>
          </a:xfrm>
          <a:prstGeom prst="rect">
            <a:avLst/>
          </a:prstGeom>
          <a:noFill/>
        </p:spPr>
        <p:txBody>
          <a:bodyPr wrap="square" anchor="t" lIns="45720" rIns="45720">
            <a:spAutoFit/>
          </a:bodyPr>
          <a:lstStyle/>
          <a:p>
            <a:pPr algn="l">
              <a:lnSpc>
                <a:spcPct val="110000"/>
              </a:lnSpc>
            </a:pPr>
            <a:r>
              <a:rPr sz="1300" b="0">
                <a:solidFill>
                  <a:srgbClr val="5B6B75"/>
                </a:solidFill>
                <a:latin typeface="Segoe UI"/>
              </a:rPr>
              <a:t>28 automated tests, all passing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320040"/>
          </a:xfrm>
          <a:prstGeom prst="rect">
            <a:avLst/>
          </a:prstGeom>
          <a:noFill/>
        </p:spPr>
        <p:txBody>
          <a:bodyPr wrap="square" anchor="t" lIns="45720" rIns="45720">
            <a:spAutoFit/>
          </a:bodyPr>
          <a:lstStyle/>
          <a:p>
            <a:pPr algn="l">
              <a:lnSpc>
                <a:spcPct val="110000"/>
              </a:lnSpc>
            </a:pPr>
            <a:r>
              <a:rPr sz="1200" b="1">
                <a:solidFill>
                  <a:srgbClr val="128C7E"/>
                </a:solidFill>
                <a:latin typeface="Segoe UI"/>
              </a:rPr>
              <a:t>DESIGN</a:t>
            </a:r>
          </a:p>
        </p:txBody>
      </p:sp>
      <p:sp>
        <p:nvSpPr>
          <p:cNvPr id="4" name="TextBox 3"/>
          <p:cNvSpPr txBox="1"/>
          <p:nvPr/>
        </p:nvSpPr>
        <p:spPr>
          <a:xfrm>
            <a:off x="548640" y="530352"/>
            <a:ext cx="10972800" cy="731520"/>
          </a:xfrm>
          <a:prstGeom prst="rect">
            <a:avLst/>
          </a:prstGeom>
          <a:noFill/>
        </p:spPr>
        <p:txBody>
          <a:bodyPr wrap="square" anchor="t" lIns="45720" rIns="45720">
            <a:spAutoFit/>
          </a:bodyPr>
          <a:lstStyle/>
          <a:p>
            <a:pPr algn="l">
              <a:lnSpc>
                <a:spcPct val="110000"/>
              </a:lnSpc>
            </a:pPr>
            <a:r>
              <a:rPr sz="3000" b="1">
                <a:solidFill>
                  <a:srgbClr val="075E54"/>
                </a:solidFill>
                <a:latin typeface="Segoe UI"/>
              </a:rPr>
              <a:t>System architecture</a:t>
            </a:r>
          </a:p>
        </p:txBody>
      </p:sp>
      <p:sp>
        <p:nvSpPr>
          <p:cNvPr id="5" name="TextBox 4"/>
          <p:cNvSpPr txBox="1"/>
          <p:nvPr/>
        </p:nvSpPr>
        <p:spPr>
          <a:xfrm>
            <a:off x="548640" y="6446520"/>
            <a:ext cx="7315200" cy="274320"/>
          </a:xfrm>
          <a:prstGeom prst="rect">
            <a:avLst/>
          </a:prstGeom>
          <a:noFill/>
        </p:spPr>
        <p:txBody>
          <a:bodyPr wrap="square" anchor="t" lIns="45720" rIns="45720">
            <a:spAutoFit/>
          </a:bodyPr>
          <a:lstStyle/>
          <a:p>
            <a:pPr algn="l">
              <a:lnSpc>
                <a:spcPct val="110000"/>
              </a:lnSpc>
            </a:pPr>
            <a:r>
              <a:rPr sz="1000" b="0">
                <a:solidFill>
                  <a:srgbClr val="5B6B75"/>
                </a:solidFill>
                <a:latin typeface="Segoe UI"/>
              </a:rPr>
              <a:t>🛡 ShieldChat · Secure Enterprise Chat with DLP</a:t>
            </a:r>
          </a:p>
        </p:txBody>
      </p:sp>
      <p:sp>
        <p:nvSpPr>
          <p:cNvPr id="6" name="TextBox 5"/>
          <p:cNvSpPr txBox="1"/>
          <p:nvPr/>
        </p:nvSpPr>
        <p:spPr>
          <a:xfrm>
            <a:off x="10881360" y="6446520"/>
            <a:ext cx="914400" cy="274320"/>
          </a:xfrm>
          <a:prstGeom prst="rect">
            <a:avLst/>
          </a:prstGeom>
          <a:noFill/>
        </p:spPr>
        <p:txBody>
          <a:bodyPr wrap="square" anchor="t" lIns="45720" rIns="45720">
            <a:spAutoFit/>
          </a:bodyPr>
          <a:lstStyle/>
          <a:p>
            <a:pPr algn="r">
              <a:lnSpc>
                <a:spcPct val="110000"/>
              </a:lnSpc>
            </a:pPr>
            <a:r>
              <a:rPr sz="1000" b="0">
                <a:solidFill>
                  <a:srgbClr val="5B6B75"/>
                </a:solidFill>
                <a:latin typeface="Segoe UI"/>
              </a:rPr>
              <a:t>5 / 18</a:t>
            </a:r>
          </a:p>
        </p:txBody>
      </p:sp>
      <p:pic>
        <p:nvPicPr>
          <p:cNvPr id="7" name="Picture 6" descr="architecture.png"/>
          <p:cNvPicPr>
            <a:picLocks noChangeAspect="1"/>
          </p:cNvPicPr>
          <p:nvPr/>
        </p:nvPicPr>
        <p:blipFill>
          <a:blip r:embed="rId3"/>
          <a:stretch>
            <a:fillRect/>
          </a:stretch>
        </p:blipFill>
        <p:spPr>
          <a:xfrm>
            <a:off x="548640" y="1325880"/>
            <a:ext cx="8696173" cy="4983480"/>
          </a:xfrm>
          <a:prstGeom prst="rect">
            <a:avLst/>
          </a:prstGeom>
        </p:spPr>
      </p:pic>
      <p:sp>
        <p:nvSpPr>
          <p:cNvPr id="8" name="Rounded Rectangle 7"/>
          <p:cNvSpPr/>
          <p:nvPr/>
        </p:nvSpPr>
        <p:spPr>
          <a:xfrm>
            <a:off x="9281160" y="1554480"/>
            <a:ext cx="2514600" cy="4480560"/>
          </a:xfrm>
          <a:prstGeom prst="roundRect">
            <a:avLst>
              <a:gd name="adj" fmla="val 8000"/>
            </a:avLst>
          </a:prstGeom>
          <a:solidFill>
            <a:srgbClr val="E7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64040" y="1691640"/>
            <a:ext cx="2194560" cy="4206240"/>
          </a:xfrm>
          <a:prstGeom prst="rect">
            <a:avLst/>
          </a:prstGeom>
          <a:noFill/>
        </p:spPr>
        <p:txBody>
          <a:bodyPr wrap="square" anchor="t" lIns="45720" rIns="45720">
            <a:spAutoFit/>
          </a:bodyPr>
          <a:lstStyle/>
          <a:p>
            <a:pPr algn="l">
              <a:lnSpc>
                <a:spcPct val="115000"/>
              </a:lnSpc>
            </a:pPr>
            <a:r>
              <a:rPr sz="1700" b="1">
                <a:solidFill>
                  <a:srgbClr val="075E54"/>
                </a:solidFill>
                <a:latin typeface="Segoe UI"/>
              </a:rPr>
              <a:t>Key design rule</a:t>
            </a:r>
          </a:p>
          <a:p>
            <a:pPr algn="l">
              <a:lnSpc>
                <a:spcPct val="115000"/>
              </a:lnSpc>
            </a:pPr>
            <a:r>
              <a:rPr sz="1400" b="0">
                <a:solidFill>
                  <a:srgbClr val="111B21"/>
                </a:solidFill>
                <a:latin typeface="Segoe UI"/>
              </a:rPr>
              <a:t/>
            </a:r>
          </a:p>
          <a:p>
            <a:pPr algn="l">
              <a:lnSpc>
                <a:spcPct val="115000"/>
              </a:lnSpc>
            </a:pPr>
            <a:r>
              <a:rPr sz="1400" b="0">
                <a:solidFill>
                  <a:srgbClr val="111B21"/>
                </a:solidFill>
                <a:latin typeface="Segoe UI"/>
              </a:rPr>
              <a:t>Raw sensitive data never leaves our server.</a:t>
            </a:r>
          </a:p>
          <a:p>
            <a:pPr algn="l">
              <a:lnSpc>
                <a:spcPct val="115000"/>
              </a:lnSpc>
            </a:pPr>
            <a:r>
              <a:rPr sz="1400" b="0">
                <a:solidFill>
                  <a:srgbClr val="111B21"/>
                </a:solidFill>
                <a:latin typeface="Segoe UI"/>
              </a:rPr>
              <a:t/>
            </a:r>
          </a:p>
          <a:p>
            <a:pPr algn="l">
              <a:lnSpc>
                <a:spcPct val="115000"/>
              </a:lnSpc>
            </a:pPr>
            <a:r>
              <a:rPr sz="1400" b="0">
                <a:solidFill>
                  <a:srgbClr val="111B21"/>
                </a:solidFill>
                <a:latin typeface="Segoe UI"/>
              </a:rPr>
              <a:t>Layer 1 DLP blocks it locally before any AI call.</a:t>
            </a:r>
          </a:p>
          <a:p>
            <a:pPr algn="l">
              <a:lnSpc>
                <a:spcPct val="115000"/>
              </a:lnSpc>
            </a:pPr>
            <a:r>
              <a:rPr sz="1400" b="0">
                <a:solidFill>
                  <a:srgbClr val="111B21"/>
                </a:solidFill>
                <a:latin typeface="Segoe UI"/>
              </a:rPr>
              <a:t/>
            </a:r>
          </a:p>
          <a:p>
            <a:pPr algn="l">
              <a:lnSpc>
                <a:spcPct val="115000"/>
              </a:lnSpc>
            </a:pPr>
            <a:r>
              <a:rPr sz="1400" b="0">
                <a:solidFill>
                  <a:srgbClr val="111B21"/>
                </a:solidFill>
                <a:latin typeface="Segoe UI"/>
              </a:rPr>
              <a:t>Only clean messages are sent to Gemini.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320040"/>
          </a:xfrm>
          <a:prstGeom prst="rect">
            <a:avLst/>
          </a:prstGeom>
          <a:noFill/>
        </p:spPr>
        <p:txBody>
          <a:bodyPr wrap="square" anchor="t" lIns="45720" rIns="45720">
            <a:spAutoFit/>
          </a:bodyPr>
          <a:lstStyle/>
          <a:p>
            <a:pPr algn="l">
              <a:lnSpc>
                <a:spcPct val="110000"/>
              </a:lnSpc>
            </a:pPr>
            <a:r>
              <a:rPr sz="1200" b="1">
                <a:solidFill>
                  <a:srgbClr val="128C7E"/>
                </a:solidFill>
                <a:latin typeface="Segoe UI"/>
              </a:rPr>
              <a:t>MESSAGE FLOW</a:t>
            </a:r>
          </a:p>
        </p:txBody>
      </p:sp>
      <p:sp>
        <p:nvSpPr>
          <p:cNvPr id="4" name="TextBox 3"/>
          <p:cNvSpPr txBox="1"/>
          <p:nvPr/>
        </p:nvSpPr>
        <p:spPr>
          <a:xfrm>
            <a:off x="548640" y="530352"/>
            <a:ext cx="10972800" cy="731520"/>
          </a:xfrm>
          <a:prstGeom prst="rect">
            <a:avLst/>
          </a:prstGeom>
          <a:noFill/>
        </p:spPr>
        <p:txBody>
          <a:bodyPr wrap="square" anchor="t" lIns="45720" rIns="45720">
            <a:spAutoFit/>
          </a:bodyPr>
          <a:lstStyle/>
          <a:p>
            <a:pPr algn="l">
              <a:lnSpc>
                <a:spcPct val="110000"/>
              </a:lnSpc>
            </a:pPr>
            <a:r>
              <a:rPr sz="3000" b="1">
                <a:solidFill>
                  <a:srgbClr val="075E54"/>
                </a:solidFill>
                <a:latin typeface="Segoe UI"/>
              </a:rPr>
              <a:t>What happens when you press Send</a:t>
            </a:r>
          </a:p>
        </p:txBody>
      </p:sp>
      <p:sp>
        <p:nvSpPr>
          <p:cNvPr id="5" name="TextBox 4"/>
          <p:cNvSpPr txBox="1"/>
          <p:nvPr/>
        </p:nvSpPr>
        <p:spPr>
          <a:xfrm>
            <a:off x="548640" y="6446520"/>
            <a:ext cx="7315200" cy="274320"/>
          </a:xfrm>
          <a:prstGeom prst="rect">
            <a:avLst/>
          </a:prstGeom>
          <a:noFill/>
        </p:spPr>
        <p:txBody>
          <a:bodyPr wrap="square" anchor="t" lIns="45720" rIns="45720">
            <a:spAutoFit/>
          </a:bodyPr>
          <a:lstStyle/>
          <a:p>
            <a:pPr algn="l">
              <a:lnSpc>
                <a:spcPct val="110000"/>
              </a:lnSpc>
            </a:pPr>
            <a:r>
              <a:rPr sz="1000" b="0">
                <a:solidFill>
                  <a:srgbClr val="5B6B75"/>
                </a:solidFill>
                <a:latin typeface="Segoe UI"/>
              </a:rPr>
              <a:t>🛡 ShieldChat · Secure Enterprise Chat with DLP</a:t>
            </a:r>
          </a:p>
        </p:txBody>
      </p:sp>
      <p:sp>
        <p:nvSpPr>
          <p:cNvPr id="6" name="TextBox 5"/>
          <p:cNvSpPr txBox="1"/>
          <p:nvPr/>
        </p:nvSpPr>
        <p:spPr>
          <a:xfrm>
            <a:off x="10881360" y="6446520"/>
            <a:ext cx="914400" cy="274320"/>
          </a:xfrm>
          <a:prstGeom prst="rect">
            <a:avLst/>
          </a:prstGeom>
          <a:noFill/>
        </p:spPr>
        <p:txBody>
          <a:bodyPr wrap="square" anchor="t" lIns="45720" rIns="45720">
            <a:spAutoFit/>
          </a:bodyPr>
          <a:lstStyle/>
          <a:p>
            <a:pPr algn="r">
              <a:lnSpc>
                <a:spcPct val="110000"/>
              </a:lnSpc>
            </a:pPr>
            <a:r>
              <a:rPr sz="1000" b="0">
                <a:solidFill>
                  <a:srgbClr val="5B6B75"/>
                </a:solidFill>
                <a:latin typeface="Segoe UI"/>
              </a:rPr>
              <a:t>6 / 18</a:t>
            </a:r>
          </a:p>
        </p:txBody>
      </p:sp>
      <p:sp>
        <p:nvSpPr>
          <p:cNvPr id="7" name="Rounded Rectangle 6"/>
          <p:cNvSpPr/>
          <p:nvPr/>
        </p:nvSpPr>
        <p:spPr>
          <a:xfrm>
            <a:off x="548640" y="1600200"/>
            <a:ext cx="2103120" cy="2194560"/>
          </a:xfrm>
          <a:prstGeom prst="roundRect">
            <a:avLst>
              <a:gd name="adj" fmla="val 8000"/>
            </a:avLst>
          </a:prstGeom>
          <a:solidFill>
            <a:srgbClr val="FFFFFF"/>
          </a:solidFill>
          <a:ln w="15875">
            <a:solidFill>
              <a:srgbClr val="128C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25880" y="1371600"/>
            <a:ext cx="548640" cy="548640"/>
          </a:xfrm>
          <a:prstGeom prst="ellipse">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b="1" sz="1800">
                <a:solidFill>
                  <a:srgbClr val="FFFFFF"/>
                </a:solidFill>
              </a:rPr>
              <a:t>1</a:t>
            </a:r>
          </a:p>
        </p:txBody>
      </p:sp>
      <p:sp>
        <p:nvSpPr>
          <p:cNvPr id="9" name="TextBox 8"/>
          <p:cNvSpPr txBox="1"/>
          <p:nvPr/>
        </p:nvSpPr>
        <p:spPr>
          <a:xfrm>
            <a:off x="658368" y="2103120"/>
            <a:ext cx="1883664" cy="457200"/>
          </a:xfrm>
          <a:prstGeom prst="rect">
            <a:avLst/>
          </a:prstGeom>
          <a:noFill/>
        </p:spPr>
        <p:txBody>
          <a:bodyPr wrap="square" anchor="t" lIns="45720" rIns="45720">
            <a:spAutoFit/>
          </a:bodyPr>
          <a:lstStyle/>
          <a:p>
            <a:pPr algn="ctr">
              <a:lnSpc>
                <a:spcPct val="110000"/>
              </a:lnSpc>
            </a:pPr>
            <a:r>
              <a:rPr sz="1700" b="1">
                <a:solidFill>
                  <a:srgbClr val="128C7E"/>
                </a:solidFill>
                <a:latin typeface="Segoe UI"/>
              </a:rPr>
              <a:t>Type &amp; Send</a:t>
            </a:r>
          </a:p>
        </p:txBody>
      </p:sp>
      <p:sp>
        <p:nvSpPr>
          <p:cNvPr id="10" name="TextBox 9"/>
          <p:cNvSpPr txBox="1"/>
          <p:nvPr/>
        </p:nvSpPr>
        <p:spPr>
          <a:xfrm>
            <a:off x="658368" y="2606040"/>
            <a:ext cx="1883664" cy="1097280"/>
          </a:xfrm>
          <a:prstGeom prst="rect">
            <a:avLst/>
          </a:prstGeom>
          <a:noFill/>
        </p:spPr>
        <p:txBody>
          <a:bodyPr wrap="square" anchor="t" lIns="45720" rIns="45720">
            <a:spAutoFit/>
          </a:bodyPr>
          <a:lstStyle/>
          <a:p>
            <a:pPr algn="ctr">
              <a:lnSpc>
                <a:spcPct val="110000"/>
              </a:lnSpc>
            </a:pPr>
            <a:r>
              <a:rPr sz="1300" b="0">
                <a:solidFill>
                  <a:srgbClr val="5B6B75"/>
                </a:solidFill>
                <a:latin typeface="Segoe UI"/>
              </a:rPr>
              <a:t>Browser emits the text over Socket.IO</a:t>
            </a:r>
          </a:p>
        </p:txBody>
      </p:sp>
      <p:sp>
        <p:nvSpPr>
          <p:cNvPr id="11" name="Right Arrow 10"/>
          <p:cNvSpPr/>
          <p:nvPr/>
        </p:nvSpPr>
        <p:spPr>
          <a:xfrm>
            <a:off x="2670048" y="2560320"/>
            <a:ext cx="146304" cy="274320"/>
          </a:xfrm>
          <a:prstGeom prst="rightArrow">
            <a:avLst/>
          </a:prstGeom>
          <a:solidFill>
            <a:srgbClr val="5B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34640" y="1600200"/>
            <a:ext cx="2103120" cy="2194560"/>
          </a:xfrm>
          <a:prstGeom prst="roundRect">
            <a:avLst>
              <a:gd name="adj" fmla="val 8000"/>
            </a:avLst>
          </a:prstGeom>
          <a:solidFill>
            <a:srgbClr val="FFFFFF"/>
          </a:solidFill>
          <a:ln w="15875">
            <a:solidFill>
              <a:srgbClr val="075E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11880" y="1371600"/>
            <a:ext cx="548640" cy="548640"/>
          </a:xfrm>
          <a:prstGeom prst="ellipse">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b="1" sz="1800">
                <a:solidFill>
                  <a:srgbClr val="FFFFFF"/>
                </a:solidFill>
              </a:rPr>
              <a:t>2</a:t>
            </a:r>
          </a:p>
        </p:txBody>
      </p:sp>
      <p:sp>
        <p:nvSpPr>
          <p:cNvPr id="14" name="TextBox 13"/>
          <p:cNvSpPr txBox="1"/>
          <p:nvPr/>
        </p:nvSpPr>
        <p:spPr>
          <a:xfrm>
            <a:off x="2944368" y="2103120"/>
            <a:ext cx="1883664" cy="457200"/>
          </a:xfrm>
          <a:prstGeom prst="rect">
            <a:avLst/>
          </a:prstGeom>
          <a:noFill/>
        </p:spPr>
        <p:txBody>
          <a:bodyPr wrap="square" anchor="t" lIns="45720" rIns="45720">
            <a:spAutoFit/>
          </a:bodyPr>
          <a:lstStyle/>
          <a:p>
            <a:pPr algn="ctr">
              <a:lnSpc>
                <a:spcPct val="110000"/>
              </a:lnSpc>
            </a:pPr>
            <a:r>
              <a:rPr sz="1700" b="1">
                <a:solidFill>
                  <a:srgbClr val="075E54"/>
                </a:solidFill>
                <a:latin typeface="Segoe UI"/>
              </a:rPr>
              <a:t>Who sent it?</a:t>
            </a:r>
          </a:p>
        </p:txBody>
      </p:sp>
      <p:sp>
        <p:nvSpPr>
          <p:cNvPr id="15" name="TextBox 14"/>
          <p:cNvSpPr txBox="1"/>
          <p:nvPr/>
        </p:nvSpPr>
        <p:spPr>
          <a:xfrm>
            <a:off x="2944368" y="2606040"/>
            <a:ext cx="1883664" cy="1097280"/>
          </a:xfrm>
          <a:prstGeom prst="rect">
            <a:avLst/>
          </a:prstGeom>
          <a:noFill/>
        </p:spPr>
        <p:txBody>
          <a:bodyPr wrap="square" anchor="t" lIns="45720" rIns="45720">
            <a:spAutoFit/>
          </a:bodyPr>
          <a:lstStyle/>
          <a:p>
            <a:pPr algn="ctr">
              <a:lnSpc>
                <a:spcPct val="110000"/>
              </a:lnSpc>
            </a:pPr>
            <a:r>
              <a:rPr sz="1300" b="0">
                <a:solidFill>
                  <a:srgbClr val="5B6B75"/>
                </a:solidFill>
                <a:latin typeface="Segoe UI"/>
              </a:rPr>
              <a:t>Identity from the signed session, not the browser</a:t>
            </a:r>
          </a:p>
        </p:txBody>
      </p:sp>
      <p:sp>
        <p:nvSpPr>
          <p:cNvPr id="16" name="Right Arrow 15"/>
          <p:cNvSpPr/>
          <p:nvPr/>
        </p:nvSpPr>
        <p:spPr>
          <a:xfrm>
            <a:off x="4956048" y="2560320"/>
            <a:ext cx="146304" cy="274320"/>
          </a:xfrm>
          <a:prstGeom prst="rightArrow">
            <a:avLst/>
          </a:prstGeom>
          <a:solidFill>
            <a:srgbClr val="5B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120640" y="1600200"/>
            <a:ext cx="2103120" cy="2194560"/>
          </a:xfrm>
          <a:prstGeom prst="roundRect">
            <a:avLst>
              <a:gd name="adj" fmla="val 8000"/>
            </a:avLst>
          </a:prstGeom>
          <a:solidFill>
            <a:srgbClr val="FFFFFF"/>
          </a:solidFill>
          <a:ln w="15875">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897880" y="1371600"/>
            <a:ext cx="548640" cy="548640"/>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b="1" sz="1800">
                <a:solidFill>
                  <a:srgbClr val="FFFFFF"/>
                </a:solidFill>
              </a:rPr>
              <a:t>3</a:t>
            </a:r>
          </a:p>
        </p:txBody>
      </p:sp>
      <p:sp>
        <p:nvSpPr>
          <p:cNvPr id="19" name="TextBox 18"/>
          <p:cNvSpPr txBox="1"/>
          <p:nvPr/>
        </p:nvSpPr>
        <p:spPr>
          <a:xfrm>
            <a:off x="5230368" y="2103120"/>
            <a:ext cx="1883664" cy="457200"/>
          </a:xfrm>
          <a:prstGeom prst="rect">
            <a:avLst/>
          </a:prstGeom>
          <a:noFill/>
        </p:spPr>
        <p:txBody>
          <a:bodyPr wrap="square" anchor="t" lIns="45720" rIns="45720">
            <a:spAutoFit/>
          </a:bodyPr>
          <a:lstStyle/>
          <a:p>
            <a:pPr algn="ctr">
              <a:lnSpc>
                <a:spcPct val="110000"/>
              </a:lnSpc>
            </a:pPr>
            <a:r>
              <a:rPr sz="1700" b="1">
                <a:solidFill>
                  <a:srgbClr val="D93025"/>
                </a:solidFill>
                <a:latin typeface="Segoe UI"/>
              </a:rPr>
              <a:t>Layer 1 DLP</a:t>
            </a:r>
          </a:p>
        </p:txBody>
      </p:sp>
      <p:sp>
        <p:nvSpPr>
          <p:cNvPr id="20" name="TextBox 19"/>
          <p:cNvSpPr txBox="1"/>
          <p:nvPr/>
        </p:nvSpPr>
        <p:spPr>
          <a:xfrm>
            <a:off x="5230368" y="2606040"/>
            <a:ext cx="1883664" cy="1097280"/>
          </a:xfrm>
          <a:prstGeom prst="rect">
            <a:avLst/>
          </a:prstGeom>
          <a:noFill/>
        </p:spPr>
        <p:txBody>
          <a:bodyPr wrap="square" anchor="t" lIns="45720" rIns="45720">
            <a:spAutoFit/>
          </a:bodyPr>
          <a:lstStyle/>
          <a:p>
            <a:pPr algn="ctr">
              <a:lnSpc>
                <a:spcPct val="110000"/>
              </a:lnSpc>
            </a:pPr>
            <a:r>
              <a:rPr sz="1300" b="0">
                <a:solidFill>
                  <a:srgbClr val="5B6B75"/>
                </a:solidFill>
                <a:latin typeface="Segoe UI"/>
              </a:rPr>
              <a:t>Local regex + Luhn / Verhoeff scan</a:t>
            </a:r>
          </a:p>
        </p:txBody>
      </p:sp>
      <p:sp>
        <p:nvSpPr>
          <p:cNvPr id="21" name="Right Arrow 20"/>
          <p:cNvSpPr/>
          <p:nvPr/>
        </p:nvSpPr>
        <p:spPr>
          <a:xfrm>
            <a:off x="7242048" y="2560320"/>
            <a:ext cx="146304" cy="274320"/>
          </a:xfrm>
          <a:prstGeom prst="rightArrow">
            <a:avLst/>
          </a:prstGeom>
          <a:solidFill>
            <a:srgbClr val="5B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06640" y="1600200"/>
            <a:ext cx="2103120" cy="2194560"/>
          </a:xfrm>
          <a:prstGeom prst="roundRect">
            <a:avLst>
              <a:gd name="adj" fmla="val 8000"/>
            </a:avLst>
          </a:prstGeom>
          <a:solidFill>
            <a:srgbClr val="FFFFFF"/>
          </a:solidFill>
          <a:ln w="15875">
            <a:solidFill>
              <a:srgbClr val="1A56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183880" y="1371600"/>
            <a:ext cx="548640" cy="548640"/>
          </a:xfrm>
          <a:prstGeom prst="ellipse">
            <a:avLst/>
          </a:prstGeom>
          <a:solidFill>
            <a:srgbClr val="1A5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b="1" sz="1800">
                <a:solidFill>
                  <a:srgbClr val="FFFFFF"/>
                </a:solidFill>
              </a:rPr>
              <a:t>4</a:t>
            </a:r>
          </a:p>
        </p:txBody>
      </p:sp>
      <p:sp>
        <p:nvSpPr>
          <p:cNvPr id="24" name="TextBox 23"/>
          <p:cNvSpPr txBox="1"/>
          <p:nvPr/>
        </p:nvSpPr>
        <p:spPr>
          <a:xfrm>
            <a:off x="7516368" y="2103120"/>
            <a:ext cx="1883664" cy="457200"/>
          </a:xfrm>
          <a:prstGeom prst="rect">
            <a:avLst/>
          </a:prstGeom>
          <a:noFill/>
        </p:spPr>
        <p:txBody>
          <a:bodyPr wrap="square" anchor="t" lIns="45720" rIns="45720">
            <a:spAutoFit/>
          </a:bodyPr>
          <a:lstStyle/>
          <a:p>
            <a:pPr algn="ctr">
              <a:lnSpc>
                <a:spcPct val="110000"/>
              </a:lnSpc>
            </a:pPr>
            <a:r>
              <a:rPr sz="1700" b="1">
                <a:solidFill>
                  <a:srgbClr val="1A56C4"/>
                </a:solidFill>
                <a:latin typeface="Segoe UI"/>
              </a:rPr>
              <a:t>Layer 2 AI</a:t>
            </a:r>
          </a:p>
        </p:txBody>
      </p:sp>
      <p:sp>
        <p:nvSpPr>
          <p:cNvPr id="25" name="TextBox 24"/>
          <p:cNvSpPr txBox="1"/>
          <p:nvPr/>
        </p:nvSpPr>
        <p:spPr>
          <a:xfrm>
            <a:off x="7516368" y="2606040"/>
            <a:ext cx="1883664" cy="1097280"/>
          </a:xfrm>
          <a:prstGeom prst="rect">
            <a:avLst/>
          </a:prstGeom>
          <a:noFill/>
        </p:spPr>
        <p:txBody>
          <a:bodyPr wrap="square" anchor="t" lIns="45720" rIns="45720">
            <a:spAutoFit/>
          </a:bodyPr>
          <a:lstStyle/>
          <a:p>
            <a:pPr algn="ctr">
              <a:lnSpc>
                <a:spcPct val="110000"/>
              </a:lnSpc>
            </a:pPr>
            <a:r>
              <a:rPr sz="1300" b="0">
                <a:solidFill>
                  <a:srgbClr val="5B6B75"/>
                </a:solidFill>
                <a:latin typeface="Segoe UI"/>
              </a:rPr>
              <a:t>One Gemini call, strict JSON (only if clean)</a:t>
            </a:r>
          </a:p>
        </p:txBody>
      </p:sp>
      <p:sp>
        <p:nvSpPr>
          <p:cNvPr id="26" name="Right Arrow 25"/>
          <p:cNvSpPr/>
          <p:nvPr/>
        </p:nvSpPr>
        <p:spPr>
          <a:xfrm>
            <a:off x="9528048" y="2560320"/>
            <a:ext cx="146304" cy="274320"/>
          </a:xfrm>
          <a:prstGeom prst="rightArrow">
            <a:avLst/>
          </a:prstGeom>
          <a:solidFill>
            <a:srgbClr val="5B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692640" y="1600200"/>
            <a:ext cx="2103120" cy="2194560"/>
          </a:xfrm>
          <a:prstGeom prst="roundRect">
            <a:avLst>
              <a:gd name="adj" fmla="val 8000"/>
            </a:avLst>
          </a:prstGeom>
          <a:solidFill>
            <a:srgbClr val="FFFFFF"/>
          </a:solidFill>
          <a:ln w="15875">
            <a:solidFill>
              <a:srgbClr val="8A6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469880" y="1371600"/>
            <a:ext cx="548640" cy="548640"/>
          </a:xfrm>
          <a:prstGeom prst="ellipse">
            <a:avLst/>
          </a:prstGeom>
          <a:solidFill>
            <a:srgbClr val="8A6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b="1" sz="1800">
                <a:solidFill>
                  <a:srgbClr val="FFFFFF"/>
                </a:solidFill>
              </a:rPr>
              <a:t>5</a:t>
            </a:r>
          </a:p>
        </p:txBody>
      </p:sp>
      <p:sp>
        <p:nvSpPr>
          <p:cNvPr id="29" name="TextBox 28"/>
          <p:cNvSpPr txBox="1"/>
          <p:nvPr/>
        </p:nvSpPr>
        <p:spPr>
          <a:xfrm>
            <a:off x="9802368" y="2103120"/>
            <a:ext cx="1883664" cy="457200"/>
          </a:xfrm>
          <a:prstGeom prst="rect">
            <a:avLst/>
          </a:prstGeom>
          <a:noFill/>
        </p:spPr>
        <p:txBody>
          <a:bodyPr wrap="square" anchor="t" lIns="45720" rIns="45720">
            <a:spAutoFit/>
          </a:bodyPr>
          <a:lstStyle/>
          <a:p>
            <a:pPr algn="ctr">
              <a:lnSpc>
                <a:spcPct val="110000"/>
              </a:lnSpc>
            </a:pPr>
            <a:r>
              <a:rPr sz="1700" b="1">
                <a:solidFill>
                  <a:srgbClr val="8A6100"/>
                </a:solidFill>
                <a:latin typeface="Segoe UI"/>
              </a:rPr>
              <a:t>Decision</a:t>
            </a:r>
          </a:p>
        </p:txBody>
      </p:sp>
      <p:sp>
        <p:nvSpPr>
          <p:cNvPr id="30" name="TextBox 29"/>
          <p:cNvSpPr txBox="1"/>
          <p:nvPr/>
        </p:nvSpPr>
        <p:spPr>
          <a:xfrm>
            <a:off x="9802368" y="2606040"/>
            <a:ext cx="1883664" cy="1097280"/>
          </a:xfrm>
          <a:prstGeom prst="rect">
            <a:avLst/>
          </a:prstGeom>
          <a:noFill/>
        </p:spPr>
        <p:txBody>
          <a:bodyPr wrap="square" anchor="t" lIns="45720" rIns="45720">
            <a:spAutoFit/>
          </a:bodyPr>
          <a:lstStyle/>
          <a:p>
            <a:pPr algn="ctr">
              <a:lnSpc>
                <a:spcPct val="110000"/>
              </a:lnSpc>
            </a:pPr>
            <a:r>
              <a:rPr sz="1300" b="0">
                <a:solidFill>
                  <a:srgbClr val="5B6B75"/>
                </a:solidFill>
                <a:latin typeface="Segoe UI"/>
              </a:rPr>
              <a:t>Send · Block · Suggest</a:t>
            </a:r>
          </a:p>
        </p:txBody>
      </p:sp>
      <p:sp>
        <p:nvSpPr>
          <p:cNvPr id="31" name="Rounded Rectangle 30"/>
          <p:cNvSpPr/>
          <p:nvPr/>
        </p:nvSpPr>
        <p:spPr>
          <a:xfrm>
            <a:off x="548640" y="4160520"/>
            <a:ext cx="3611880" cy="1371600"/>
          </a:xfrm>
          <a:prstGeom prst="roundRect">
            <a:avLst>
              <a:gd name="adj" fmla="val 8000"/>
            </a:avLst>
          </a:prstGeom>
          <a:solidFill>
            <a:srgbClr val="E7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4279392"/>
            <a:ext cx="3200400" cy="365760"/>
          </a:xfrm>
          <a:prstGeom prst="rect">
            <a:avLst/>
          </a:prstGeom>
          <a:noFill/>
        </p:spPr>
        <p:txBody>
          <a:bodyPr wrap="square" anchor="t" lIns="45720" rIns="45720">
            <a:spAutoFit/>
          </a:bodyPr>
          <a:lstStyle/>
          <a:p>
            <a:pPr algn="l">
              <a:lnSpc>
                <a:spcPct val="110000"/>
              </a:lnSpc>
            </a:pPr>
            <a:r>
              <a:rPr sz="1600" b="1">
                <a:solidFill>
                  <a:srgbClr val="128C7E"/>
                </a:solidFill>
                <a:latin typeface="Segoe UI"/>
              </a:rPr>
              <a:t>✅ Clean &amp; professional</a:t>
            </a:r>
          </a:p>
        </p:txBody>
      </p:sp>
      <p:sp>
        <p:nvSpPr>
          <p:cNvPr id="33" name="TextBox 32"/>
          <p:cNvSpPr txBox="1"/>
          <p:nvPr/>
        </p:nvSpPr>
        <p:spPr>
          <a:xfrm>
            <a:off x="777240" y="4681728"/>
            <a:ext cx="3200400" cy="822960"/>
          </a:xfrm>
          <a:prstGeom prst="rect">
            <a:avLst/>
          </a:prstGeom>
          <a:noFill/>
        </p:spPr>
        <p:txBody>
          <a:bodyPr wrap="square" anchor="t" lIns="45720" rIns="45720">
            <a:spAutoFit/>
          </a:bodyPr>
          <a:lstStyle/>
          <a:p>
            <a:pPr algn="l">
              <a:lnSpc>
                <a:spcPct val="110000"/>
              </a:lnSpc>
            </a:pPr>
            <a:r>
              <a:rPr sz="1300" b="0">
                <a:solidFill>
                  <a:srgbClr val="111B21"/>
                </a:solidFill>
                <a:latin typeface="Segoe UI"/>
              </a:rPr>
              <a:t>Saved to SQLite and delivered instantly to the receiver.</a:t>
            </a:r>
          </a:p>
        </p:txBody>
      </p:sp>
      <p:sp>
        <p:nvSpPr>
          <p:cNvPr id="34" name="Rounded Rectangle 33"/>
          <p:cNvSpPr/>
          <p:nvPr/>
        </p:nvSpPr>
        <p:spPr>
          <a:xfrm>
            <a:off x="4343400" y="4160520"/>
            <a:ext cx="3611880" cy="1371600"/>
          </a:xfrm>
          <a:prstGeom prst="roundRect">
            <a:avLst>
              <a:gd name="adj" fmla="val 8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0" y="4279392"/>
            <a:ext cx="3200400" cy="365760"/>
          </a:xfrm>
          <a:prstGeom prst="rect">
            <a:avLst/>
          </a:prstGeom>
          <a:noFill/>
        </p:spPr>
        <p:txBody>
          <a:bodyPr wrap="square" anchor="t" lIns="45720" rIns="45720">
            <a:spAutoFit/>
          </a:bodyPr>
          <a:lstStyle/>
          <a:p>
            <a:pPr algn="l">
              <a:lnSpc>
                <a:spcPct val="110000"/>
              </a:lnSpc>
            </a:pPr>
            <a:r>
              <a:rPr sz="1600" b="1">
                <a:solidFill>
                  <a:srgbClr val="D93025"/>
                </a:solidFill>
                <a:latin typeface="Segoe UI"/>
              </a:rPr>
              <a:t>⛔ Sensitive data found</a:t>
            </a:r>
          </a:p>
        </p:txBody>
      </p:sp>
      <p:sp>
        <p:nvSpPr>
          <p:cNvPr id="36" name="TextBox 35"/>
          <p:cNvSpPr txBox="1"/>
          <p:nvPr/>
        </p:nvSpPr>
        <p:spPr>
          <a:xfrm>
            <a:off x="4572000" y="4681728"/>
            <a:ext cx="3200400" cy="822960"/>
          </a:xfrm>
          <a:prstGeom prst="rect">
            <a:avLst/>
          </a:prstGeom>
          <a:noFill/>
        </p:spPr>
        <p:txBody>
          <a:bodyPr wrap="square" anchor="t" lIns="45720" rIns="45720">
            <a:spAutoFit/>
          </a:bodyPr>
          <a:lstStyle/>
          <a:p>
            <a:pPr algn="l">
              <a:lnSpc>
                <a:spcPct val="110000"/>
              </a:lnSpc>
            </a:pPr>
            <a:r>
              <a:rPr sz="1300" b="0">
                <a:solidFill>
                  <a:srgbClr val="111B21"/>
                </a:solidFill>
                <a:latin typeface="Segoe UI"/>
              </a:rPr>
              <a:t>Blocked. Red popup, masked incident logged, admin alerted live.</a:t>
            </a:r>
          </a:p>
        </p:txBody>
      </p:sp>
      <p:sp>
        <p:nvSpPr>
          <p:cNvPr id="37" name="Rounded Rectangle 36"/>
          <p:cNvSpPr/>
          <p:nvPr/>
        </p:nvSpPr>
        <p:spPr>
          <a:xfrm>
            <a:off x="8138160" y="4160520"/>
            <a:ext cx="3611880" cy="1371600"/>
          </a:xfrm>
          <a:prstGeom prst="roundRect">
            <a:avLst>
              <a:gd name="adj" fmla="val 8000"/>
            </a:avLst>
          </a:prstGeom>
          <a:solidFill>
            <a:srgbClr val="FFF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66760" y="4279392"/>
            <a:ext cx="3200400" cy="365760"/>
          </a:xfrm>
          <a:prstGeom prst="rect">
            <a:avLst/>
          </a:prstGeom>
          <a:noFill/>
        </p:spPr>
        <p:txBody>
          <a:bodyPr wrap="square" anchor="t" lIns="45720" rIns="45720">
            <a:spAutoFit/>
          </a:bodyPr>
          <a:lstStyle/>
          <a:p>
            <a:pPr algn="l">
              <a:lnSpc>
                <a:spcPct val="110000"/>
              </a:lnSpc>
            </a:pPr>
            <a:r>
              <a:rPr sz="1600" b="1">
                <a:solidFill>
                  <a:srgbClr val="8A6100"/>
                </a:solidFill>
                <a:latin typeface="Segoe UI"/>
              </a:rPr>
              <a:t>💡 Unprofessional tone</a:t>
            </a:r>
          </a:p>
        </p:txBody>
      </p:sp>
      <p:sp>
        <p:nvSpPr>
          <p:cNvPr id="39" name="TextBox 38"/>
          <p:cNvSpPr txBox="1"/>
          <p:nvPr/>
        </p:nvSpPr>
        <p:spPr>
          <a:xfrm>
            <a:off x="8366760" y="4681728"/>
            <a:ext cx="3200400" cy="822960"/>
          </a:xfrm>
          <a:prstGeom prst="rect">
            <a:avLst/>
          </a:prstGeom>
          <a:noFill/>
        </p:spPr>
        <p:txBody>
          <a:bodyPr wrap="square" anchor="t" lIns="45720" rIns="45720">
            <a:spAutoFit/>
          </a:bodyPr>
          <a:lstStyle/>
          <a:p>
            <a:pPr algn="l">
              <a:lnSpc>
                <a:spcPct val="110000"/>
              </a:lnSpc>
            </a:pPr>
            <a:r>
              <a:rPr sz="1300" b="0">
                <a:solidFill>
                  <a:srgbClr val="111B21"/>
                </a:solidFill>
                <a:latin typeface="Segoe UI"/>
              </a:rPr>
              <a:t>Not blocked. Yellow hint with a polite rewrite to choose from.</a:t>
            </a:r>
          </a:p>
        </p:txBody>
      </p:sp>
      <p:sp>
        <p:nvSpPr>
          <p:cNvPr id="40" name="TextBox 39"/>
          <p:cNvSpPr txBox="1"/>
          <p:nvPr/>
        </p:nvSpPr>
        <p:spPr>
          <a:xfrm>
            <a:off x="548640" y="5760720"/>
            <a:ext cx="11155680" cy="457200"/>
          </a:xfrm>
          <a:prstGeom prst="rect">
            <a:avLst/>
          </a:prstGeom>
          <a:noFill/>
        </p:spPr>
        <p:txBody>
          <a:bodyPr wrap="square" anchor="t" lIns="45720" rIns="45720">
            <a:spAutoFit/>
          </a:bodyPr>
          <a:lstStyle/>
          <a:p>
            <a:pPr algn="l">
              <a:lnSpc>
                <a:spcPct val="110000"/>
              </a:lnSpc>
            </a:pPr>
            <a:r>
              <a:rPr sz="1400" b="1">
                <a:solidFill>
                  <a:srgbClr val="075E54"/>
                </a:solidFill>
                <a:latin typeface="Segoe UI"/>
              </a:rPr>
              <a:t>If Gemini is down, slow (&gt; 5 s) or has no key: </a:t>
            </a:r>
            <a:r>
              <a:rPr sz="1400" b="0">
                <a:solidFill>
                  <a:srgbClr val="111B21"/>
                </a:solidFill>
                <a:latin typeface="Segoe UI"/>
              </a:rPr>
              <a:t>Layer 1 has already run, the message is sent, and the user sees "AI assistant unavailable".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320040"/>
          </a:xfrm>
          <a:prstGeom prst="rect">
            <a:avLst/>
          </a:prstGeom>
          <a:noFill/>
        </p:spPr>
        <p:txBody>
          <a:bodyPr wrap="square" anchor="t" lIns="45720" rIns="45720">
            <a:spAutoFit/>
          </a:bodyPr>
          <a:lstStyle/>
          <a:p>
            <a:pPr algn="l">
              <a:lnSpc>
                <a:spcPct val="110000"/>
              </a:lnSpc>
            </a:pPr>
            <a:r>
              <a:rPr sz="1200" b="1">
                <a:solidFill>
                  <a:srgbClr val="128C7E"/>
                </a:solidFill>
                <a:latin typeface="Segoe UI"/>
              </a:rPr>
              <a:t>FEATURE 1 · AUTHENTICATION SECURITY</a:t>
            </a:r>
          </a:p>
        </p:txBody>
      </p:sp>
      <p:sp>
        <p:nvSpPr>
          <p:cNvPr id="4" name="TextBox 3"/>
          <p:cNvSpPr txBox="1"/>
          <p:nvPr/>
        </p:nvSpPr>
        <p:spPr>
          <a:xfrm>
            <a:off x="548640" y="530352"/>
            <a:ext cx="10972800" cy="731520"/>
          </a:xfrm>
          <a:prstGeom prst="rect">
            <a:avLst/>
          </a:prstGeom>
          <a:noFill/>
        </p:spPr>
        <p:txBody>
          <a:bodyPr wrap="square" anchor="t" lIns="45720" rIns="45720">
            <a:spAutoFit/>
          </a:bodyPr>
          <a:lstStyle/>
          <a:p>
            <a:pPr algn="l">
              <a:lnSpc>
                <a:spcPct val="110000"/>
              </a:lnSpc>
            </a:pPr>
            <a:r>
              <a:rPr sz="3000" b="1">
                <a:solidFill>
                  <a:srgbClr val="075E54"/>
                </a:solidFill>
                <a:latin typeface="Segoe UI"/>
              </a:rPr>
              <a:t>Only employees get in</a:t>
            </a:r>
          </a:p>
        </p:txBody>
      </p:sp>
      <p:sp>
        <p:nvSpPr>
          <p:cNvPr id="5" name="TextBox 4"/>
          <p:cNvSpPr txBox="1"/>
          <p:nvPr/>
        </p:nvSpPr>
        <p:spPr>
          <a:xfrm>
            <a:off x="548640" y="6446520"/>
            <a:ext cx="7315200" cy="274320"/>
          </a:xfrm>
          <a:prstGeom prst="rect">
            <a:avLst/>
          </a:prstGeom>
          <a:noFill/>
        </p:spPr>
        <p:txBody>
          <a:bodyPr wrap="square" anchor="t" lIns="45720" rIns="45720">
            <a:spAutoFit/>
          </a:bodyPr>
          <a:lstStyle/>
          <a:p>
            <a:pPr algn="l">
              <a:lnSpc>
                <a:spcPct val="110000"/>
              </a:lnSpc>
            </a:pPr>
            <a:r>
              <a:rPr sz="1000" b="0">
                <a:solidFill>
                  <a:srgbClr val="5B6B75"/>
                </a:solidFill>
                <a:latin typeface="Segoe UI"/>
              </a:rPr>
              <a:t>🛡 ShieldChat · Secure Enterprise Chat with DLP</a:t>
            </a:r>
          </a:p>
        </p:txBody>
      </p:sp>
      <p:sp>
        <p:nvSpPr>
          <p:cNvPr id="6" name="TextBox 5"/>
          <p:cNvSpPr txBox="1"/>
          <p:nvPr/>
        </p:nvSpPr>
        <p:spPr>
          <a:xfrm>
            <a:off x="10881360" y="6446520"/>
            <a:ext cx="914400" cy="274320"/>
          </a:xfrm>
          <a:prstGeom prst="rect">
            <a:avLst/>
          </a:prstGeom>
          <a:noFill/>
        </p:spPr>
        <p:txBody>
          <a:bodyPr wrap="square" anchor="t" lIns="45720" rIns="45720">
            <a:spAutoFit/>
          </a:bodyPr>
          <a:lstStyle/>
          <a:p>
            <a:pPr algn="r">
              <a:lnSpc>
                <a:spcPct val="110000"/>
              </a:lnSpc>
            </a:pPr>
            <a:r>
              <a:rPr sz="1000" b="0">
                <a:solidFill>
                  <a:srgbClr val="5B6B75"/>
                </a:solidFill>
                <a:latin typeface="Segoe UI"/>
              </a:rPr>
              <a:t>7 / 18</a:t>
            </a:r>
          </a:p>
        </p:txBody>
      </p:sp>
      <p:sp>
        <p:nvSpPr>
          <p:cNvPr id="7" name="TextBox 6"/>
          <p:cNvSpPr txBox="1"/>
          <p:nvPr/>
        </p:nvSpPr>
        <p:spPr>
          <a:xfrm>
            <a:off x="548640" y="1463040"/>
            <a:ext cx="5669280" cy="4754880"/>
          </a:xfrm>
          <a:prstGeom prst="rect">
            <a:avLst/>
          </a:prstGeom>
          <a:noFill/>
        </p:spPr>
        <p:txBody>
          <a:bodyPr wrap="square">
            <a:spAutoFit/>
          </a:bodyPr>
          <a:lstStyle/>
          <a:p>
            <a:pPr>
              <a:lnSpc>
                <a:spcPct val="110000"/>
              </a:lnSpc>
              <a:spcAft>
                <a:spcPts val="1200"/>
              </a:spcAft>
            </a:pPr>
            <a:r>
              <a:rPr sz="1600" b="1">
                <a:solidFill>
                  <a:srgbClr val="128C7E"/>
                </a:solidFill>
                <a:latin typeface="Segoe UI"/>
              </a:rPr>
              <a:t>•  </a:t>
            </a:r>
            <a:r>
              <a:rPr sz="1600" b="1">
                <a:solidFill>
                  <a:srgbClr val="111B21"/>
                </a:solidFill>
                <a:latin typeface="Segoe UI"/>
              </a:rPr>
              <a:t>Password hashing: </a:t>
            </a:r>
            <a:r>
              <a:rPr sz="1600">
                <a:solidFill>
                  <a:srgbClr val="111B21"/>
                </a:solidFill>
                <a:latin typeface="Segoe UI"/>
              </a:rPr>
              <a:t>salted scrypt via Werkzeug. A one-way blender: we can check a password but never recover it.</a:t>
            </a:r>
          </a:p>
          <a:p>
            <a:pPr>
              <a:lnSpc>
                <a:spcPct val="110000"/>
              </a:lnSpc>
              <a:spcAft>
                <a:spcPts val="1200"/>
              </a:spcAft>
            </a:pPr>
            <a:r>
              <a:rPr sz="1600" b="1">
                <a:solidFill>
                  <a:srgbClr val="128C7E"/>
                </a:solidFill>
                <a:latin typeface="Segoe UI"/>
              </a:rPr>
              <a:t>•  </a:t>
            </a:r>
            <a:r>
              <a:rPr sz="1600" b="1">
                <a:solidFill>
                  <a:srgbClr val="111B21"/>
                </a:solidFill>
                <a:latin typeface="Segoe UI"/>
              </a:rPr>
              <a:t>Domain restriction: </a:t>
            </a:r>
            <a:r>
              <a:rPr sz="1600">
                <a:solidFill>
                  <a:srgbClr val="111B21"/>
                </a:solidFill>
                <a:latin typeface="Segoe UI"/>
              </a:rPr>
              <a:t>only @shieldcorp.com emails, checked on the server.</a:t>
            </a:r>
          </a:p>
          <a:p>
            <a:pPr>
              <a:lnSpc>
                <a:spcPct val="110000"/>
              </a:lnSpc>
              <a:spcAft>
                <a:spcPts val="1200"/>
              </a:spcAft>
            </a:pPr>
            <a:r>
              <a:rPr sz="1600" b="1">
                <a:solidFill>
                  <a:srgbClr val="128C7E"/>
                </a:solidFill>
                <a:latin typeface="Segoe UI"/>
              </a:rPr>
              <a:t>•  </a:t>
            </a:r>
            <a:r>
              <a:rPr sz="1600" b="1">
                <a:solidFill>
                  <a:srgbClr val="111B21"/>
                </a:solidFill>
                <a:latin typeface="Segoe UI"/>
              </a:rPr>
              <a:t>Account lockout: </a:t>
            </a:r>
            <a:r>
              <a:rPr sz="1600">
                <a:solidFill>
                  <a:srgbClr val="111B21"/>
                </a:solidFill>
                <a:latin typeface="Segoe UI"/>
              </a:rPr>
              <a:t>5 wrong passwords → locked for 2 minutes. Stops brute-force guessing.</a:t>
            </a:r>
          </a:p>
          <a:p>
            <a:pPr>
              <a:lnSpc>
                <a:spcPct val="110000"/>
              </a:lnSpc>
              <a:spcAft>
                <a:spcPts val="1200"/>
              </a:spcAft>
            </a:pPr>
            <a:r>
              <a:rPr sz="1600" b="1">
                <a:solidFill>
                  <a:srgbClr val="128C7E"/>
                </a:solidFill>
                <a:latin typeface="Segoe UI"/>
              </a:rPr>
              <a:t>•  </a:t>
            </a:r>
            <a:r>
              <a:rPr sz="1600" b="1">
                <a:solidFill>
                  <a:srgbClr val="111B21"/>
                </a:solidFill>
                <a:latin typeface="Segoe UI"/>
              </a:rPr>
              <a:t>Every failure logged: </a:t>
            </a:r>
            <a:r>
              <a:rPr sz="1600">
                <a:solidFill>
                  <a:srgbClr val="111B21"/>
                </a:solidFill>
                <a:latin typeface="Segoe UI"/>
              </a:rPr>
              <a:t>FAILED_LOGIN and LOCKOUT incidents appear on the admin dashboard.</a:t>
            </a:r>
          </a:p>
          <a:p>
            <a:pPr>
              <a:lnSpc>
                <a:spcPct val="110000"/>
              </a:lnSpc>
              <a:spcAft>
                <a:spcPts val="1200"/>
              </a:spcAft>
            </a:pPr>
            <a:r>
              <a:rPr sz="1600" b="1">
                <a:solidFill>
                  <a:srgbClr val="128C7E"/>
                </a:solidFill>
                <a:latin typeface="Segoe UI"/>
              </a:rPr>
              <a:t>•  </a:t>
            </a:r>
            <a:r>
              <a:rPr sz="1600" b="1">
                <a:solidFill>
                  <a:srgbClr val="111B21"/>
                </a:solidFill>
                <a:latin typeface="Segoe UI"/>
              </a:rPr>
              <a:t>Secure session cookie: </a:t>
            </a:r>
            <a:r>
              <a:rPr sz="1600">
                <a:solidFill>
                  <a:srgbClr val="111B21"/>
                </a:solidFill>
                <a:latin typeface="Segoe UI"/>
              </a:rPr>
              <a:t>signed with a secret key from .env, HttpOnly and SameSite.</a:t>
            </a:r>
          </a:p>
        </p:txBody>
      </p:sp>
      <p:pic>
        <p:nvPicPr>
          <p:cNvPr id="8" name="Picture 7" descr="s1_login.png"/>
          <p:cNvPicPr>
            <a:picLocks noChangeAspect="1"/>
          </p:cNvPicPr>
          <p:nvPr/>
        </p:nvPicPr>
        <p:blipFill>
          <a:blip r:embed="rId3"/>
          <a:stretch>
            <a:fillRect/>
          </a:stretch>
        </p:blipFill>
        <p:spPr>
          <a:xfrm>
            <a:off x="6583680" y="1554480"/>
            <a:ext cx="5120640" cy="2880360"/>
          </a:xfrm>
          <a:prstGeom prst="rect">
            <a:avLst/>
          </a:prstGeom>
          <a:ln w="12700">
            <a:solidFill>
              <a:srgbClr val="C9D1D6"/>
            </a:solidFill>
          </a:ln>
        </p:spPr>
      </p:pic>
      <p:sp>
        <p:nvSpPr>
          <p:cNvPr id="9" name="TextBox 8"/>
          <p:cNvSpPr txBox="1"/>
          <p:nvPr/>
        </p:nvSpPr>
        <p:spPr>
          <a:xfrm>
            <a:off x="6583680" y="4572000"/>
            <a:ext cx="5120640" cy="365760"/>
          </a:xfrm>
          <a:prstGeom prst="rect">
            <a:avLst/>
          </a:prstGeom>
          <a:noFill/>
        </p:spPr>
        <p:txBody>
          <a:bodyPr wrap="square" anchor="t" lIns="45720" rIns="45720">
            <a:spAutoFit/>
          </a:bodyPr>
          <a:lstStyle/>
          <a:p>
            <a:pPr algn="ctr">
              <a:lnSpc>
                <a:spcPct val="110000"/>
              </a:lnSpc>
            </a:pPr>
            <a:r>
              <a:rPr sz="1200" b="0">
                <a:solidFill>
                  <a:srgbClr val="5B6B75"/>
                </a:solidFill>
                <a:latin typeface="Segoe UI"/>
              </a:rPr>
              <a:t>ShieldChat login page</a:t>
            </a:r>
          </a:p>
        </p:txBody>
      </p:sp>
      <p:sp>
        <p:nvSpPr>
          <p:cNvPr id="10" name="Rounded Rectangle 9"/>
          <p:cNvSpPr/>
          <p:nvPr/>
        </p:nvSpPr>
        <p:spPr>
          <a:xfrm>
            <a:off x="6583680" y="5074920"/>
            <a:ext cx="5120640" cy="347472"/>
          </a:xfrm>
          <a:prstGeom prst="roundRect">
            <a:avLst>
              <a:gd name="adj" fmla="val 5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D93025"/>
                </a:solidFill>
                <a:latin typeface="Segoe UI"/>
              </a:rPr>
              <a:t>gmail.com → "Access denied" (employees only)</a:t>
            </a:r>
          </a:p>
        </p:txBody>
      </p:sp>
      <p:sp>
        <p:nvSpPr>
          <p:cNvPr id="11" name="Rounded Rectangle 10"/>
          <p:cNvSpPr/>
          <p:nvPr/>
        </p:nvSpPr>
        <p:spPr>
          <a:xfrm>
            <a:off x="6583680" y="5532120"/>
            <a:ext cx="5120640" cy="347472"/>
          </a:xfrm>
          <a:prstGeom prst="roundRect">
            <a:avLst>
              <a:gd name="adj" fmla="val 5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D93025"/>
                </a:solidFill>
                <a:latin typeface="Segoe UI"/>
              </a:rPr>
              <a:t>5th wrong password → "Account locked for 2 minutes"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320040"/>
          </a:xfrm>
          <a:prstGeom prst="rect">
            <a:avLst/>
          </a:prstGeom>
          <a:noFill/>
        </p:spPr>
        <p:txBody>
          <a:bodyPr wrap="square" anchor="t" lIns="45720" rIns="45720">
            <a:spAutoFit/>
          </a:bodyPr>
          <a:lstStyle/>
          <a:p>
            <a:pPr algn="l">
              <a:lnSpc>
                <a:spcPct val="110000"/>
              </a:lnSpc>
            </a:pPr>
            <a:r>
              <a:rPr sz="1200" b="1">
                <a:solidFill>
                  <a:srgbClr val="128C7E"/>
                </a:solidFill>
                <a:latin typeface="Segoe UI"/>
              </a:rPr>
              <a:t>FEATURE 2 · THE STAR FEATURE</a:t>
            </a:r>
          </a:p>
        </p:txBody>
      </p:sp>
      <p:sp>
        <p:nvSpPr>
          <p:cNvPr id="4" name="TextBox 3"/>
          <p:cNvSpPr txBox="1"/>
          <p:nvPr/>
        </p:nvSpPr>
        <p:spPr>
          <a:xfrm>
            <a:off x="548640" y="530352"/>
            <a:ext cx="10972800" cy="731520"/>
          </a:xfrm>
          <a:prstGeom prst="rect">
            <a:avLst/>
          </a:prstGeom>
          <a:noFill/>
        </p:spPr>
        <p:txBody>
          <a:bodyPr wrap="square" anchor="t" lIns="45720" rIns="45720">
            <a:spAutoFit/>
          </a:bodyPr>
          <a:lstStyle/>
          <a:p>
            <a:pPr algn="l">
              <a:lnSpc>
                <a:spcPct val="110000"/>
              </a:lnSpc>
            </a:pPr>
            <a:r>
              <a:rPr sz="3000" b="1">
                <a:solidFill>
                  <a:srgbClr val="075E54"/>
                </a:solidFill>
                <a:latin typeface="Segoe UI"/>
              </a:rPr>
              <a:t>DLP Layer 1: pattern + checksum detection</a:t>
            </a:r>
          </a:p>
        </p:txBody>
      </p:sp>
      <p:sp>
        <p:nvSpPr>
          <p:cNvPr id="5" name="TextBox 4"/>
          <p:cNvSpPr txBox="1"/>
          <p:nvPr/>
        </p:nvSpPr>
        <p:spPr>
          <a:xfrm>
            <a:off x="548640" y="6446520"/>
            <a:ext cx="7315200" cy="274320"/>
          </a:xfrm>
          <a:prstGeom prst="rect">
            <a:avLst/>
          </a:prstGeom>
          <a:noFill/>
        </p:spPr>
        <p:txBody>
          <a:bodyPr wrap="square" anchor="t" lIns="45720" rIns="45720">
            <a:spAutoFit/>
          </a:bodyPr>
          <a:lstStyle/>
          <a:p>
            <a:pPr algn="l">
              <a:lnSpc>
                <a:spcPct val="110000"/>
              </a:lnSpc>
            </a:pPr>
            <a:r>
              <a:rPr sz="1000" b="0">
                <a:solidFill>
                  <a:srgbClr val="5B6B75"/>
                </a:solidFill>
                <a:latin typeface="Segoe UI"/>
              </a:rPr>
              <a:t>🛡 ShieldChat · Secure Enterprise Chat with DLP</a:t>
            </a:r>
          </a:p>
        </p:txBody>
      </p:sp>
      <p:sp>
        <p:nvSpPr>
          <p:cNvPr id="6" name="TextBox 5"/>
          <p:cNvSpPr txBox="1"/>
          <p:nvPr/>
        </p:nvSpPr>
        <p:spPr>
          <a:xfrm>
            <a:off x="10881360" y="6446520"/>
            <a:ext cx="914400" cy="274320"/>
          </a:xfrm>
          <a:prstGeom prst="rect">
            <a:avLst/>
          </a:prstGeom>
          <a:noFill/>
        </p:spPr>
        <p:txBody>
          <a:bodyPr wrap="square" anchor="t" lIns="45720" rIns="45720">
            <a:spAutoFit/>
          </a:bodyPr>
          <a:lstStyle/>
          <a:p>
            <a:pPr algn="r">
              <a:lnSpc>
                <a:spcPct val="110000"/>
              </a:lnSpc>
            </a:pPr>
            <a:r>
              <a:rPr sz="1000" b="0">
                <a:solidFill>
                  <a:srgbClr val="5B6B75"/>
                </a:solidFill>
                <a:latin typeface="Segoe UI"/>
              </a:rPr>
              <a:t>8 / 18</a:t>
            </a:r>
          </a:p>
        </p:txBody>
      </p:sp>
      <p:graphicFrame>
        <p:nvGraphicFramePr>
          <p:cNvPr id="7" name="Table 6"/>
          <p:cNvGraphicFramePr>
            <a:graphicFrameLocks noGrp="1"/>
          </p:cNvGraphicFramePr>
          <p:nvPr/>
        </p:nvGraphicFramePr>
        <p:xfrm>
          <a:off x="548640" y="1463040"/>
          <a:ext cx="11155680" cy="3291840"/>
        </p:xfrm>
        <a:graphic>
          <a:graphicData uri="http://schemas.openxmlformats.org/drawingml/2006/table">
            <a:tbl>
              <a:tblPr firstRow="1" bandRow="1">
                <a:tableStyleId>{5C22544A-7EE6-4342-B048-85BDC9FD1C3A}</a:tableStyleId>
              </a:tblPr>
              <a:tblGrid>
                <a:gridCol w="2377440"/>
                <a:gridCol w="6035040"/>
                <a:gridCol w="2743200"/>
              </a:tblGrid>
              <a:tr h="548640">
                <a:tc>
                  <a:txBody>
                    <a:bodyPr/>
                    <a:lstStyle/>
                    <a:p>
                      <a:r>
                        <a:rPr sz="1400" b="1">
                          <a:solidFill>
                            <a:srgbClr val="FFFFFF"/>
                          </a:solidFill>
                          <a:latin typeface="Segoe UI"/>
                        </a:rPr>
                        <a:t>Data type</a:t>
                      </a:r>
                    </a:p>
                  </a:txBody>
                  <a:tcPr anchor="ctr">
                    <a:solidFill>
                      <a:srgbClr val="075E54"/>
                    </a:solidFill>
                  </a:tcPr>
                </a:tc>
                <a:tc>
                  <a:txBody>
                    <a:bodyPr/>
                    <a:lstStyle/>
                    <a:p>
                      <a:r>
                        <a:rPr sz="1400" b="1">
                          <a:solidFill>
                            <a:srgbClr val="FFFFFF"/>
                          </a:solidFill>
                          <a:latin typeface="Segoe UI"/>
                        </a:rPr>
                        <a:t>How we detect it</a:t>
                      </a:r>
                    </a:p>
                  </a:txBody>
                  <a:tcPr anchor="ctr">
                    <a:solidFill>
                      <a:srgbClr val="075E54"/>
                    </a:solidFill>
                  </a:tcPr>
                </a:tc>
                <a:tc>
                  <a:txBody>
                    <a:bodyPr/>
                    <a:lstStyle/>
                    <a:p>
                      <a:r>
                        <a:rPr sz="1400" b="1">
                          <a:solidFill>
                            <a:srgbClr val="FFFFFF"/>
                          </a:solidFill>
                          <a:latin typeface="Segoe UI"/>
                        </a:rPr>
                        <a:t>Masked as</a:t>
                      </a:r>
                    </a:p>
                  </a:txBody>
                  <a:tcPr anchor="ctr">
                    <a:solidFill>
                      <a:srgbClr val="075E54"/>
                    </a:solidFill>
                  </a:tcPr>
                </a:tc>
              </a:tr>
              <a:tr h="548640">
                <a:tc>
                  <a:txBody>
                    <a:bodyPr/>
                    <a:lstStyle/>
                    <a:p>
                      <a:r>
                        <a:rPr sz="1500" b="1">
                          <a:solidFill>
                            <a:srgbClr val="111B21"/>
                          </a:solidFill>
                          <a:latin typeface="Segoe UI"/>
                        </a:rPr>
                        <a:t>Credit / debit card</a:t>
                      </a:r>
                    </a:p>
                  </a:txBody>
                  <a:tcPr anchor="ctr">
                    <a:solidFill>
                      <a:srgbClr val="FFFFFF"/>
                    </a:solidFill>
                  </a:tcPr>
                </a:tc>
                <a:tc>
                  <a:txBody>
                    <a:bodyPr/>
                    <a:lstStyle/>
                    <a:p>
                      <a:r>
                        <a:rPr sz="1500" b="0">
                          <a:solidFill>
                            <a:srgbClr val="111B21"/>
                          </a:solidFill>
                          <a:latin typeface="Segoe UI"/>
                        </a:rPr>
                        <a:t>13–19 digits + Luhn checksum + network from prefix + expiry date</a:t>
                      </a:r>
                    </a:p>
                  </a:txBody>
                  <a:tcPr anchor="ctr">
                    <a:solidFill>
                      <a:srgbClr val="FFFFFF"/>
                    </a:solidFill>
                  </a:tcPr>
                </a:tc>
                <a:tc>
                  <a:txBody>
                    <a:bodyPr/>
                    <a:lstStyle/>
                    <a:p>
                      <a:r>
                        <a:rPr sz="1500" b="0">
                          <a:solidFill>
                            <a:srgbClr val="D93025"/>
                          </a:solidFill>
                          <a:latin typeface="Consolas"/>
                        </a:rPr>
                        <a:t>XXXX XXXX XXXX 7352</a:t>
                      </a:r>
                    </a:p>
                  </a:txBody>
                  <a:tcPr anchor="ctr">
                    <a:solidFill>
                      <a:srgbClr val="FFFFFF"/>
                    </a:solidFill>
                  </a:tcPr>
                </a:tc>
              </a:tr>
              <a:tr h="548640">
                <a:tc>
                  <a:txBody>
                    <a:bodyPr/>
                    <a:lstStyle/>
                    <a:p>
                      <a:r>
                        <a:rPr sz="1500" b="1">
                          <a:solidFill>
                            <a:srgbClr val="111B21"/>
                          </a:solidFill>
                          <a:latin typeface="Segoe UI"/>
                        </a:rPr>
                        <a:t>Aadhaar</a:t>
                      </a:r>
                    </a:p>
                  </a:txBody>
                  <a:tcPr anchor="ctr">
                    <a:solidFill>
                      <a:srgbClr val="F0F2F5"/>
                    </a:solidFill>
                  </a:tcPr>
                </a:tc>
                <a:tc>
                  <a:txBody>
                    <a:bodyPr/>
                    <a:lstStyle/>
                    <a:p>
                      <a:r>
                        <a:rPr sz="1500" b="0">
                          <a:solidFill>
                            <a:srgbClr val="111B21"/>
                          </a:solidFill>
                          <a:latin typeface="Segoe UI"/>
                        </a:rPr>
                        <a:t>12 digits, first digit 2–9 + Verhoeff checksum</a:t>
                      </a:r>
                    </a:p>
                  </a:txBody>
                  <a:tcPr anchor="ctr">
                    <a:solidFill>
                      <a:srgbClr val="F0F2F5"/>
                    </a:solidFill>
                  </a:tcPr>
                </a:tc>
                <a:tc>
                  <a:txBody>
                    <a:bodyPr/>
                    <a:lstStyle/>
                    <a:p>
                      <a:r>
                        <a:rPr sz="1500" b="0">
                          <a:solidFill>
                            <a:srgbClr val="D93025"/>
                          </a:solidFill>
                          <a:latin typeface="Consolas"/>
                        </a:rPr>
                        <a:t>XXXX XXXX 0124</a:t>
                      </a:r>
                    </a:p>
                  </a:txBody>
                  <a:tcPr anchor="ctr">
                    <a:solidFill>
                      <a:srgbClr val="F0F2F5"/>
                    </a:solidFill>
                  </a:tcPr>
                </a:tc>
              </a:tr>
              <a:tr h="548640">
                <a:tc>
                  <a:txBody>
                    <a:bodyPr/>
                    <a:lstStyle/>
                    <a:p>
                      <a:r>
                        <a:rPr sz="1500" b="1">
                          <a:solidFill>
                            <a:srgbClr val="111B21"/>
                          </a:solidFill>
                          <a:latin typeface="Segoe UI"/>
                        </a:rPr>
                        <a:t>PAN</a:t>
                      </a:r>
                    </a:p>
                  </a:txBody>
                  <a:tcPr anchor="ctr">
                    <a:solidFill>
                      <a:srgbClr val="FFFFFF"/>
                    </a:solidFill>
                  </a:tcPr>
                </a:tc>
                <a:tc>
                  <a:txBody>
                    <a:bodyPr/>
                    <a:lstStyle/>
                    <a:p>
                      <a:r>
                        <a:rPr sz="1500" b="0">
                          <a:solidFill>
                            <a:srgbClr val="111B21"/>
                          </a:solidFill>
                          <a:latin typeface="Segoe UI"/>
                        </a:rPr>
                        <a:t>5 letters · 4 digits · 1 letter (any case)</a:t>
                      </a:r>
                    </a:p>
                  </a:txBody>
                  <a:tcPr anchor="ctr">
                    <a:solidFill>
                      <a:srgbClr val="FFFFFF"/>
                    </a:solidFill>
                  </a:tcPr>
                </a:tc>
                <a:tc>
                  <a:txBody>
                    <a:bodyPr/>
                    <a:lstStyle/>
                    <a:p>
                      <a:r>
                        <a:rPr sz="1500" b="0">
                          <a:solidFill>
                            <a:srgbClr val="D93025"/>
                          </a:solidFill>
                          <a:latin typeface="Consolas"/>
                        </a:rPr>
                        <a:t>XXXXX1234X</a:t>
                      </a:r>
                    </a:p>
                  </a:txBody>
                  <a:tcPr anchor="ctr">
                    <a:solidFill>
                      <a:srgbClr val="FFFFFF"/>
                    </a:solidFill>
                  </a:tcPr>
                </a:tc>
              </a:tr>
              <a:tr h="548640">
                <a:tc>
                  <a:txBody>
                    <a:bodyPr/>
                    <a:lstStyle/>
                    <a:p>
                      <a:r>
                        <a:rPr sz="1500" b="1">
                          <a:solidFill>
                            <a:srgbClr val="111B21"/>
                          </a:solidFill>
                          <a:latin typeface="Segoe UI"/>
                        </a:rPr>
                        <a:t>IFSC</a:t>
                      </a:r>
                    </a:p>
                  </a:txBody>
                  <a:tcPr anchor="ctr">
                    <a:solidFill>
                      <a:srgbClr val="F0F2F5"/>
                    </a:solidFill>
                  </a:tcPr>
                </a:tc>
                <a:tc>
                  <a:txBody>
                    <a:bodyPr/>
                    <a:lstStyle/>
                    <a:p>
                      <a:r>
                        <a:rPr sz="1500" b="0">
                          <a:solidFill>
                            <a:srgbClr val="111B21"/>
                          </a:solidFill>
                          <a:latin typeface="Segoe UI"/>
                        </a:rPr>
                        <a:t>4 letters · 0 · 6 letters/digits</a:t>
                      </a:r>
                    </a:p>
                  </a:txBody>
                  <a:tcPr anchor="ctr">
                    <a:solidFill>
                      <a:srgbClr val="F0F2F5"/>
                    </a:solidFill>
                  </a:tcPr>
                </a:tc>
                <a:tc>
                  <a:txBody>
                    <a:bodyPr/>
                    <a:lstStyle/>
                    <a:p>
                      <a:r>
                        <a:rPr sz="1500" b="0">
                          <a:solidFill>
                            <a:srgbClr val="D93025"/>
                          </a:solidFill>
                          <a:latin typeface="Consolas"/>
                        </a:rPr>
                        <a:t>XXXXXXX3456</a:t>
                      </a:r>
                    </a:p>
                  </a:txBody>
                  <a:tcPr anchor="ctr">
                    <a:solidFill>
                      <a:srgbClr val="F0F2F5"/>
                    </a:solidFill>
                  </a:tcPr>
                </a:tc>
              </a:tr>
              <a:tr h="548640">
                <a:tc>
                  <a:txBody>
                    <a:bodyPr/>
                    <a:lstStyle/>
                    <a:p>
                      <a:r>
                        <a:rPr sz="1500" b="1">
                          <a:solidFill>
                            <a:srgbClr val="111B21"/>
                          </a:solidFill>
                          <a:latin typeface="Segoe UI"/>
                        </a:rPr>
                        <a:t>Bank account</a:t>
                      </a:r>
                    </a:p>
                  </a:txBody>
                  <a:tcPr anchor="ctr">
                    <a:solidFill>
                      <a:srgbClr val="FFFFFF"/>
                    </a:solidFill>
                  </a:tcPr>
                </a:tc>
                <a:tc>
                  <a:txBody>
                    <a:bodyPr/>
                    <a:lstStyle/>
                    <a:p>
                      <a:r>
                        <a:rPr sz="1500" b="0">
                          <a:solidFill>
                            <a:srgbClr val="111B21"/>
                          </a:solidFill>
                          <a:latin typeface="Segoe UI"/>
                        </a:rPr>
                        <a:t>9–18 digits only near 'account', 'bank', 'a/c' or an IFSC</a:t>
                      </a:r>
                    </a:p>
                  </a:txBody>
                  <a:tcPr anchor="ctr">
                    <a:solidFill>
                      <a:srgbClr val="FFFFFF"/>
                    </a:solidFill>
                  </a:tcPr>
                </a:tc>
                <a:tc>
                  <a:txBody>
                    <a:bodyPr/>
                    <a:lstStyle/>
                    <a:p>
                      <a:r>
                        <a:rPr sz="1500" b="0">
                          <a:solidFill>
                            <a:srgbClr val="D93025"/>
                          </a:solidFill>
                          <a:latin typeface="Consolas"/>
                        </a:rPr>
                        <a:t>XXXXXXXX9012</a:t>
                      </a:r>
                    </a:p>
                  </a:txBody>
                  <a:tcPr anchor="ctr">
                    <a:solidFill>
                      <a:srgbClr val="FFFFFF"/>
                    </a:solidFill>
                  </a:tcPr>
                </a:tc>
              </a:tr>
            </a:tbl>
          </a:graphicData>
        </a:graphic>
      </p:graphicFrame>
      <p:sp>
        <p:nvSpPr>
          <p:cNvPr id="8" name="Rounded Rectangle 7"/>
          <p:cNvSpPr/>
          <p:nvPr/>
        </p:nvSpPr>
        <p:spPr>
          <a:xfrm>
            <a:off x="548640" y="5029200"/>
            <a:ext cx="5440680" cy="1188720"/>
          </a:xfrm>
          <a:prstGeom prst="roundRect">
            <a:avLst>
              <a:gd name="adj" fmla="val 8000"/>
            </a:avLst>
          </a:prstGeom>
          <a:solidFill>
            <a:srgbClr val="E7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120640"/>
            <a:ext cx="5029200" cy="1005840"/>
          </a:xfrm>
          <a:prstGeom prst="rect">
            <a:avLst/>
          </a:prstGeom>
          <a:noFill/>
        </p:spPr>
        <p:txBody>
          <a:bodyPr wrap="square" anchor="t" lIns="45720" rIns="45720">
            <a:spAutoFit/>
          </a:bodyPr>
          <a:lstStyle/>
          <a:p>
            <a:pPr algn="l">
              <a:lnSpc>
                <a:spcPct val="120000"/>
              </a:lnSpc>
            </a:pPr>
            <a:r>
              <a:rPr sz="1400" b="1">
                <a:solidFill>
                  <a:srgbClr val="075E54"/>
                </a:solidFill>
                <a:latin typeface="Segoe UI"/>
              </a:rPr>
              <a:t>Runs on our server, works offline</a:t>
            </a:r>
          </a:p>
          <a:p>
            <a:pPr algn="l">
              <a:lnSpc>
                <a:spcPct val="120000"/>
              </a:lnSpc>
            </a:pPr>
            <a:r>
              <a:rPr sz="1400" b="0">
                <a:solidFill>
                  <a:srgbClr val="111B21"/>
                </a:solidFill>
                <a:latin typeface="Segoe UI"/>
              </a:rPr>
              <a:t>If Layer 1 finds anything, the raw text is never sent to the AI.</a:t>
            </a:r>
          </a:p>
        </p:txBody>
      </p:sp>
      <p:sp>
        <p:nvSpPr>
          <p:cNvPr id="10" name="Rounded Rectangle 9"/>
          <p:cNvSpPr/>
          <p:nvPr/>
        </p:nvSpPr>
        <p:spPr>
          <a:xfrm>
            <a:off x="6263640" y="5029200"/>
            <a:ext cx="5440680" cy="1188720"/>
          </a:xfrm>
          <a:prstGeom prst="roundRect">
            <a:avLst>
              <a:gd name="adj" fmla="val 8000"/>
            </a:avLst>
          </a:prstGeom>
          <a:solidFill>
            <a:srgbClr val="FFF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5120640"/>
            <a:ext cx="5029200" cy="1005840"/>
          </a:xfrm>
          <a:prstGeom prst="rect">
            <a:avLst/>
          </a:prstGeom>
          <a:noFill/>
        </p:spPr>
        <p:txBody>
          <a:bodyPr wrap="square" anchor="t" lIns="45720" rIns="45720">
            <a:spAutoFit/>
          </a:bodyPr>
          <a:lstStyle/>
          <a:p>
            <a:pPr algn="l">
              <a:lnSpc>
                <a:spcPct val="120000"/>
              </a:lnSpc>
            </a:pPr>
            <a:r>
              <a:rPr sz="1400" b="1">
                <a:solidFill>
                  <a:srgbClr val="8A6100"/>
                </a:solidFill>
                <a:latin typeface="Segoe UI"/>
              </a:rPr>
              <a:t>Why the bank-account context rule?</a:t>
            </a:r>
          </a:p>
          <a:p>
            <a:pPr algn="l">
              <a:lnSpc>
                <a:spcPct val="120000"/>
              </a:lnSpc>
            </a:pPr>
            <a:r>
              <a:rPr sz="1400" b="0">
                <a:solidFill>
                  <a:srgbClr val="111B21"/>
                </a:solidFill>
                <a:latin typeface="Segoe UI"/>
              </a:rPr>
              <a:t>Otherwise every phone number and order ID would be blocked (false positives).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320040"/>
          </a:xfrm>
          <a:prstGeom prst="rect">
            <a:avLst/>
          </a:prstGeom>
          <a:noFill/>
        </p:spPr>
        <p:txBody>
          <a:bodyPr wrap="square" anchor="t" lIns="45720" rIns="45720">
            <a:spAutoFit/>
          </a:bodyPr>
          <a:lstStyle/>
          <a:p>
            <a:pPr algn="l">
              <a:lnSpc>
                <a:spcPct val="110000"/>
              </a:lnSpc>
            </a:pPr>
            <a:r>
              <a:rPr sz="1200" b="1">
                <a:solidFill>
                  <a:srgbClr val="128C7E"/>
                </a:solidFill>
                <a:latin typeface="Segoe UI"/>
              </a:rPr>
              <a:t>HOW WE AVOID FALSE ALARMS</a:t>
            </a:r>
          </a:p>
        </p:txBody>
      </p:sp>
      <p:sp>
        <p:nvSpPr>
          <p:cNvPr id="4" name="TextBox 3"/>
          <p:cNvSpPr txBox="1"/>
          <p:nvPr/>
        </p:nvSpPr>
        <p:spPr>
          <a:xfrm>
            <a:off x="548640" y="530352"/>
            <a:ext cx="10972800" cy="731520"/>
          </a:xfrm>
          <a:prstGeom prst="rect">
            <a:avLst/>
          </a:prstGeom>
          <a:noFill/>
        </p:spPr>
        <p:txBody>
          <a:bodyPr wrap="square" anchor="t" lIns="45720" rIns="45720">
            <a:spAutoFit/>
          </a:bodyPr>
          <a:lstStyle/>
          <a:p>
            <a:pPr algn="l">
              <a:lnSpc>
                <a:spcPct val="110000"/>
              </a:lnSpc>
            </a:pPr>
            <a:r>
              <a:rPr sz="3000" b="1">
                <a:solidFill>
                  <a:srgbClr val="075E54"/>
                </a:solidFill>
                <a:latin typeface="Segoe UI"/>
              </a:rPr>
              <a:t>Checksums: a spelling check for numbers</a:t>
            </a:r>
          </a:p>
        </p:txBody>
      </p:sp>
      <p:sp>
        <p:nvSpPr>
          <p:cNvPr id="5" name="TextBox 4"/>
          <p:cNvSpPr txBox="1"/>
          <p:nvPr/>
        </p:nvSpPr>
        <p:spPr>
          <a:xfrm>
            <a:off x="548640" y="6446520"/>
            <a:ext cx="7315200" cy="274320"/>
          </a:xfrm>
          <a:prstGeom prst="rect">
            <a:avLst/>
          </a:prstGeom>
          <a:noFill/>
        </p:spPr>
        <p:txBody>
          <a:bodyPr wrap="square" anchor="t" lIns="45720" rIns="45720">
            <a:spAutoFit/>
          </a:bodyPr>
          <a:lstStyle/>
          <a:p>
            <a:pPr algn="l">
              <a:lnSpc>
                <a:spcPct val="110000"/>
              </a:lnSpc>
            </a:pPr>
            <a:r>
              <a:rPr sz="1000" b="0">
                <a:solidFill>
                  <a:srgbClr val="5B6B75"/>
                </a:solidFill>
                <a:latin typeface="Segoe UI"/>
              </a:rPr>
              <a:t>🛡 ShieldChat · Secure Enterprise Chat with DLP</a:t>
            </a:r>
          </a:p>
        </p:txBody>
      </p:sp>
      <p:sp>
        <p:nvSpPr>
          <p:cNvPr id="6" name="TextBox 5"/>
          <p:cNvSpPr txBox="1"/>
          <p:nvPr/>
        </p:nvSpPr>
        <p:spPr>
          <a:xfrm>
            <a:off x="10881360" y="6446520"/>
            <a:ext cx="914400" cy="274320"/>
          </a:xfrm>
          <a:prstGeom prst="rect">
            <a:avLst/>
          </a:prstGeom>
          <a:noFill/>
        </p:spPr>
        <p:txBody>
          <a:bodyPr wrap="square" anchor="t" lIns="45720" rIns="45720">
            <a:spAutoFit/>
          </a:bodyPr>
          <a:lstStyle/>
          <a:p>
            <a:pPr algn="r">
              <a:lnSpc>
                <a:spcPct val="110000"/>
              </a:lnSpc>
            </a:pPr>
            <a:r>
              <a:rPr sz="1000" b="0">
                <a:solidFill>
                  <a:srgbClr val="5B6B75"/>
                </a:solidFill>
                <a:latin typeface="Segoe UI"/>
              </a:rPr>
              <a:t>9 / 18</a:t>
            </a:r>
          </a:p>
        </p:txBody>
      </p:sp>
      <p:sp>
        <p:nvSpPr>
          <p:cNvPr id="7" name="Rounded Rectangle 6"/>
          <p:cNvSpPr/>
          <p:nvPr/>
        </p:nvSpPr>
        <p:spPr>
          <a:xfrm>
            <a:off x="548640" y="1463040"/>
            <a:ext cx="5486400" cy="4663440"/>
          </a:xfrm>
          <a:prstGeom prst="roundRect">
            <a:avLst>
              <a:gd name="adj" fmla="val 8000"/>
            </a:avLst>
          </a:prstGeom>
          <a:solidFill>
            <a:srgbClr val="FFFFFF"/>
          </a:solidFill>
          <a:ln w="15875">
            <a:solidFill>
              <a:srgbClr val="D5D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63040"/>
            <a:ext cx="5486400" cy="82296"/>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64208"/>
            <a:ext cx="5120640" cy="457200"/>
          </a:xfrm>
          <a:prstGeom prst="rect">
            <a:avLst/>
          </a:prstGeom>
          <a:noFill/>
        </p:spPr>
        <p:txBody>
          <a:bodyPr wrap="square" anchor="t" lIns="45720" rIns="45720">
            <a:spAutoFit/>
          </a:bodyPr>
          <a:lstStyle/>
          <a:p>
            <a:pPr algn="l">
              <a:lnSpc>
                <a:spcPct val="110000"/>
              </a:lnSpc>
            </a:pPr>
            <a:r>
              <a:rPr sz="1700" b="1">
                <a:solidFill>
                  <a:srgbClr val="128C7E"/>
                </a:solidFill>
                <a:latin typeface="Segoe UI"/>
              </a:rPr>
              <a:t>Luhn: cards</a:t>
            </a:r>
          </a:p>
        </p:txBody>
      </p:sp>
      <p:sp>
        <p:nvSpPr>
          <p:cNvPr id="10" name="TextBox 9"/>
          <p:cNvSpPr txBox="1"/>
          <p:nvPr/>
        </p:nvSpPr>
        <p:spPr>
          <a:xfrm>
            <a:off x="731520" y="2103120"/>
            <a:ext cx="5120640" cy="3959352"/>
          </a:xfrm>
          <a:prstGeom prst="rect">
            <a:avLst/>
          </a:prstGeom>
          <a:noFill/>
        </p:spPr>
        <p:txBody>
          <a:bodyPr wrap="square" anchor="t" lIns="45720" rIns="45720">
            <a:spAutoFit/>
          </a:bodyPr>
          <a:lstStyle/>
          <a:p>
            <a:pPr algn="l">
              <a:lnSpc>
                <a:spcPct val="115000"/>
              </a:lnSpc>
            </a:pPr>
            <a:r>
              <a:rPr sz="1300" b="0">
                <a:solidFill>
                  <a:srgbClr val="111B21"/>
                </a:solidFill>
                <a:latin typeface="Segoe UI"/>
              </a:rPr>
              <a:t/>
            </a:r>
          </a:p>
        </p:txBody>
      </p:sp>
      <p:sp>
        <p:nvSpPr>
          <p:cNvPr id="11" name="TextBox 10"/>
          <p:cNvSpPr txBox="1"/>
          <p:nvPr/>
        </p:nvSpPr>
        <p:spPr>
          <a:xfrm>
            <a:off x="731520" y="2103120"/>
            <a:ext cx="5120640" cy="1828800"/>
          </a:xfrm>
          <a:prstGeom prst="rect">
            <a:avLst/>
          </a:prstGeom>
          <a:noFill/>
        </p:spPr>
        <p:txBody>
          <a:bodyPr wrap="square">
            <a:spAutoFit/>
          </a:bodyPr>
          <a:lstStyle/>
          <a:p>
            <a:pPr>
              <a:lnSpc>
                <a:spcPct val="110000"/>
              </a:lnSpc>
              <a:spcAft>
                <a:spcPts val="600"/>
              </a:spcAft>
            </a:pPr>
            <a:r>
              <a:rPr sz="1500" b="1">
                <a:solidFill>
                  <a:srgbClr val="128C7E"/>
                </a:solidFill>
                <a:latin typeface="Segoe UI"/>
              </a:rPr>
              <a:t>→  </a:t>
            </a:r>
            <a:r>
              <a:rPr sz="1500">
                <a:solidFill>
                  <a:srgbClr val="111B21"/>
                </a:solidFill>
                <a:latin typeface="Segoe UI"/>
              </a:rPr>
              <a:t>From the right, double every 2nd digit</a:t>
            </a:r>
          </a:p>
          <a:p>
            <a:pPr>
              <a:lnSpc>
                <a:spcPct val="110000"/>
              </a:lnSpc>
              <a:spcAft>
                <a:spcPts val="600"/>
              </a:spcAft>
            </a:pPr>
            <a:r>
              <a:rPr sz="1500" b="1">
                <a:solidFill>
                  <a:srgbClr val="128C7E"/>
                </a:solidFill>
                <a:latin typeface="Segoe UI"/>
              </a:rPr>
              <a:t>→  </a:t>
            </a:r>
            <a:r>
              <a:rPr sz="1500">
                <a:solidFill>
                  <a:srgbClr val="111B21"/>
                </a:solidFill>
                <a:latin typeface="Segoe UI"/>
              </a:rPr>
              <a:t>If the result &gt; 9, subtract 9</a:t>
            </a:r>
          </a:p>
          <a:p>
            <a:pPr>
              <a:lnSpc>
                <a:spcPct val="110000"/>
              </a:lnSpc>
              <a:spcAft>
                <a:spcPts val="600"/>
              </a:spcAft>
            </a:pPr>
            <a:r>
              <a:rPr sz="1500" b="1">
                <a:solidFill>
                  <a:srgbClr val="128C7E"/>
                </a:solidFill>
                <a:latin typeface="Segoe UI"/>
              </a:rPr>
              <a:t>→  </a:t>
            </a:r>
            <a:r>
              <a:rPr sz="1500">
                <a:solidFill>
                  <a:srgbClr val="111B21"/>
                </a:solidFill>
                <a:latin typeface="Segoe UI"/>
              </a:rPr>
              <a:t>Add all digits. A valid card's total ends in 0</a:t>
            </a:r>
          </a:p>
        </p:txBody>
      </p:sp>
      <p:sp>
        <p:nvSpPr>
          <p:cNvPr id="12" name="Rounded Rectangle 11"/>
          <p:cNvSpPr/>
          <p:nvPr/>
        </p:nvSpPr>
        <p:spPr>
          <a:xfrm>
            <a:off x="777240" y="3657600"/>
            <a:ext cx="5029200" cy="2240280"/>
          </a:xfrm>
          <a:prstGeom prst="roundRect">
            <a:avLst>
              <a:gd name="adj" fmla="val 8000"/>
            </a:avLst>
          </a:prstGeom>
          <a:solidFill>
            <a:srgbClr val="1E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794760"/>
            <a:ext cx="4663440" cy="1965960"/>
          </a:xfrm>
          <a:prstGeom prst="rect">
            <a:avLst/>
          </a:prstGeom>
          <a:noFill/>
        </p:spPr>
        <p:txBody>
          <a:bodyPr wrap="square" anchor="t" lIns="45720" rIns="45720">
            <a:spAutoFit/>
          </a:bodyPr>
          <a:lstStyle/>
          <a:p>
            <a:pPr algn="l">
              <a:lnSpc>
                <a:spcPct val="105000"/>
              </a:lnSpc>
            </a:pPr>
            <a:r>
              <a:rPr sz="1300" b="0">
                <a:solidFill>
                  <a:srgbClr val="D7F5EE"/>
                </a:solidFill>
                <a:latin typeface="Consolas"/>
              </a:rPr>
              <a:t>Test card: 4485 3647 3952 7352</a:t>
            </a:r>
          </a:p>
          <a:p>
            <a:pPr algn="l">
              <a:lnSpc>
                <a:spcPct val="105000"/>
              </a:lnSpc>
            </a:pPr>
            <a:r>
              <a:rPr sz="1300" b="0">
                <a:solidFill>
                  <a:srgbClr val="D7F5EE"/>
                </a:solidFill>
                <a:latin typeface="Consolas"/>
              </a:rPr>
              <a:t/>
            </a:r>
          </a:p>
          <a:p>
            <a:pPr algn="l">
              <a:lnSpc>
                <a:spcPct val="105000"/>
              </a:lnSpc>
            </a:pPr>
            <a:r>
              <a:rPr sz="1300" b="0">
                <a:solidFill>
                  <a:srgbClr val="D7F5EE"/>
                </a:solidFill>
                <a:latin typeface="Consolas"/>
              </a:rPr>
              <a:t>double: 4 8 3 4 3 5 7 5</a:t>
            </a:r>
          </a:p>
          <a:p>
            <a:pPr algn="l">
              <a:lnSpc>
                <a:spcPct val="105000"/>
              </a:lnSpc>
            </a:pPr>
            <a:r>
              <a:rPr sz="1300" b="0">
                <a:solidFill>
                  <a:srgbClr val="D7F5EE"/>
                </a:solidFill>
                <a:latin typeface="Consolas"/>
              </a:rPr>
              <a:t>     → 8 7 6 8 6 1 5 1          = 42</a:t>
            </a:r>
          </a:p>
          <a:p>
            <a:pPr algn="l">
              <a:lnSpc>
                <a:spcPct val="105000"/>
              </a:lnSpc>
            </a:pPr>
            <a:r>
              <a:rPr sz="1300" b="0">
                <a:solidFill>
                  <a:srgbClr val="D7F5EE"/>
                </a:solidFill>
                <a:latin typeface="Consolas"/>
              </a:rPr>
              <a:t>others: 4 5 6 7 9 2 3 2          = 38</a:t>
            </a:r>
          </a:p>
          <a:p>
            <a:pPr algn="l">
              <a:lnSpc>
                <a:spcPct val="105000"/>
              </a:lnSpc>
            </a:pPr>
            <a:r>
              <a:rPr sz="1300" b="0">
                <a:solidFill>
                  <a:srgbClr val="D7F5EE"/>
                </a:solidFill>
                <a:latin typeface="Consolas"/>
              </a:rPr>
              <a:t>total = 42 + 38 = 80   ✓ ends in 0</a:t>
            </a:r>
          </a:p>
          <a:p>
            <a:pPr algn="l">
              <a:lnSpc>
                <a:spcPct val="105000"/>
              </a:lnSpc>
            </a:pPr>
            <a:r>
              <a:rPr sz="1300" b="0">
                <a:solidFill>
                  <a:srgbClr val="D7F5EE"/>
                </a:solidFill>
                <a:latin typeface="Consolas"/>
              </a:rPr>
              <a:t>→ valid Visa (starts with 4) → BLOCK</a:t>
            </a:r>
          </a:p>
        </p:txBody>
      </p:sp>
      <p:sp>
        <p:nvSpPr>
          <p:cNvPr id="14" name="Rounded Rectangle 13"/>
          <p:cNvSpPr/>
          <p:nvPr/>
        </p:nvSpPr>
        <p:spPr>
          <a:xfrm>
            <a:off x="6217920" y="1463040"/>
            <a:ext cx="5486400" cy="4663440"/>
          </a:xfrm>
          <a:prstGeom prst="roundRect">
            <a:avLst>
              <a:gd name="adj" fmla="val 8000"/>
            </a:avLst>
          </a:prstGeom>
          <a:solidFill>
            <a:srgbClr val="FFFFFF"/>
          </a:solidFill>
          <a:ln w="15875">
            <a:solidFill>
              <a:srgbClr val="D5D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463040"/>
            <a:ext cx="5486400" cy="82296"/>
          </a:xfrm>
          <a:prstGeom prst="rect">
            <a:avLst/>
          </a:prstGeom>
          <a:solidFill>
            <a:srgbClr val="1A5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664208"/>
            <a:ext cx="5120640" cy="457200"/>
          </a:xfrm>
          <a:prstGeom prst="rect">
            <a:avLst/>
          </a:prstGeom>
          <a:noFill/>
        </p:spPr>
        <p:txBody>
          <a:bodyPr wrap="square" anchor="t" lIns="45720" rIns="45720">
            <a:spAutoFit/>
          </a:bodyPr>
          <a:lstStyle/>
          <a:p>
            <a:pPr algn="l">
              <a:lnSpc>
                <a:spcPct val="110000"/>
              </a:lnSpc>
            </a:pPr>
            <a:r>
              <a:rPr sz="1700" b="1">
                <a:solidFill>
                  <a:srgbClr val="1A56C4"/>
                </a:solidFill>
                <a:latin typeface="Segoe UI"/>
              </a:rPr>
              <a:t>Verhoeff: Aadhaar</a:t>
            </a:r>
          </a:p>
        </p:txBody>
      </p:sp>
      <p:sp>
        <p:nvSpPr>
          <p:cNvPr id="17" name="TextBox 16"/>
          <p:cNvSpPr txBox="1"/>
          <p:nvPr/>
        </p:nvSpPr>
        <p:spPr>
          <a:xfrm>
            <a:off x="6400800" y="2103120"/>
            <a:ext cx="5120640" cy="3959352"/>
          </a:xfrm>
          <a:prstGeom prst="rect">
            <a:avLst/>
          </a:prstGeom>
          <a:noFill/>
        </p:spPr>
        <p:txBody>
          <a:bodyPr wrap="square" anchor="t" lIns="45720" rIns="45720">
            <a:spAutoFit/>
          </a:bodyPr>
          <a:lstStyle/>
          <a:p>
            <a:pPr algn="l">
              <a:lnSpc>
                <a:spcPct val="115000"/>
              </a:lnSpc>
            </a:pPr>
            <a:r>
              <a:rPr sz="1300" b="0">
                <a:solidFill>
                  <a:srgbClr val="111B21"/>
                </a:solidFill>
                <a:latin typeface="Segoe UI"/>
              </a:rPr>
              <a:t/>
            </a:r>
          </a:p>
        </p:txBody>
      </p:sp>
      <p:sp>
        <p:nvSpPr>
          <p:cNvPr id="18" name="TextBox 17"/>
          <p:cNvSpPr txBox="1"/>
          <p:nvPr/>
        </p:nvSpPr>
        <p:spPr>
          <a:xfrm>
            <a:off x="6400800" y="2103120"/>
            <a:ext cx="5120640" cy="2194560"/>
          </a:xfrm>
          <a:prstGeom prst="rect">
            <a:avLst/>
          </a:prstGeom>
          <a:noFill/>
        </p:spPr>
        <p:txBody>
          <a:bodyPr wrap="square">
            <a:spAutoFit/>
          </a:bodyPr>
          <a:lstStyle/>
          <a:p>
            <a:pPr>
              <a:lnSpc>
                <a:spcPct val="110000"/>
              </a:lnSpc>
              <a:spcAft>
                <a:spcPts val="600"/>
              </a:spcAft>
            </a:pPr>
            <a:r>
              <a:rPr sz="1500" b="1">
                <a:solidFill>
                  <a:srgbClr val="128C7E"/>
                </a:solidFill>
                <a:latin typeface="Segoe UI"/>
              </a:rPr>
              <a:t>→  </a:t>
            </a:r>
            <a:r>
              <a:rPr sz="1500">
                <a:solidFill>
                  <a:srgbClr val="111B21"/>
                </a:solidFill>
                <a:latin typeface="Segoe UI"/>
              </a:rPr>
              <a:t>Uses 3 fixed tables (multiply, permute, inverse)</a:t>
            </a:r>
          </a:p>
          <a:p>
            <a:pPr>
              <a:lnSpc>
                <a:spcPct val="110000"/>
              </a:lnSpc>
              <a:spcAft>
                <a:spcPts val="600"/>
              </a:spcAft>
            </a:pPr>
            <a:r>
              <a:rPr sz="1500" b="1">
                <a:solidFill>
                  <a:srgbClr val="128C7E"/>
                </a:solidFill>
                <a:latin typeface="Segoe UI"/>
              </a:rPr>
              <a:t>→  </a:t>
            </a:r>
            <a:r>
              <a:rPr sz="1500">
                <a:solidFill>
                  <a:srgbClr val="111B21"/>
                </a:solidFill>
                <a:latin typeface="Segoe UI"/>
              </a:rPr>
              <a:t>Catches EVERY single-digit error and EVERY swap of neighbouring digits (Luhn misses some)</a:t>
            </a:r>
          </a:p>
          <a:p>
            <a:pPr>
              <a:lnSpc>
                <a:spcPct val="110000"/>
              </a:lnSpc>
              <a:spcAft>
                <a:spcPts val="600"/>
              </a:spcAft>
            </a:pPr>
            <a:r>
              <a:rPr sz="1500" b="1">
                <a:solidFill>
                  <a:srgbClr val="128C7E"/>
                </a:solidFill>
                <a:latin typeface="Segoe UI"/>
              </a:rPr>
              <a:t>→  </a:t>
            </a:r>
            <a:r>
              <a:rPr sz="1500">
                <a:solidFill>
                  <a:srgbClr val="111B21"/>
                </a:solidFill>
                <a:latin typeface="Segoe UI"/>
              </a:rPr>
              <a:t>UIDAI uses it for Aadhaar's 12th digit</a:t>
            </a:r>
          </a:p>
        </p:txBody>
      </p:sp>
      <p:sp>
        <p:nvSpPr>
          <p:cNvPr id="19" name="Rounded Rectangle 18"/>
          <p:cNvSpPr/>
          <p:nvPr/>
        </p:nvSpPr>
        <p:spPr>
          <a:xfrm>
            <a:off x="6446520" y="4343400"/>
            <a:ext cx="5029200" cy="1554480"/>
          </a:xfrm>
          <a:prstGeom prst="roundRect">
            <a:avLst>
              <a:gd name="adj" fmla="val 8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4434840"/>
            <a:ext cx="4663440" cy="1371600"/>
          </a:xfrm>
          <a:prstGeom prst="rect">
            <a:avLst/>
          </a:prstGeom>
          <a:noFill/>
        </p:spPr>
        <p:txBody>
          <a:bodyPr wrap="square" anchor="t" lIns="45720" rIns="45720">
            <a:spAutoFit/>
          </a:bodyPr>
          <a:lstStyle/>
          <a:p>
            <a:pPr algn="l">
              <a:lnSpc>
                <a:spcPct val="120000"/>
              </a:lnSpc>
            </a:pPr>
            <a:r>
              <a:rPr sz="1400" b="1">
                <a:solidFill>
                  <a:srgbClr val="1A56C4"/>
                </a:solidFill>
                <a:latin typeface="Segoe UI"/>
              </a:rPr>
              <a:t>Result:</a:t>
            </a:r>
          </a:p>
          <a:p>
            <a:pPr algn="l">
              <a:lnSpc>
                <a:spcPct val="120000"/>
              </a:lnSpc>
            </a:pPr>
            <a:r>
              <a:rPr sz="1400" b="0">
                <a:solidFill>
                  <a:srgbClr val="111B21"/>
                </a:solidFill>
                <a:latin typeface="Segoe UI"/>
              </a:rPr>
              <a:t>A random 12-digit or 16-digit number (order ID, tracking no.) is almost never flagged.</a:t>
            </a:r>
          </a:p>
          <a:p>
            <a:pPr algn="l">
              <a:lnSpc>
                <a:spcPct val="120000"/>
              </a:lnSpc>
            </a:pPr>
            <a:r>
              <a:rPr sz="1200" b="0">
                <a:solidFill>
                  <a:srgbClr val="5B6B75"/>
                </a:solidFill>
                <a:latin typeface="Segoe UI"/>
              </a:rPr>
              <a:t>Our test Aadhaar is fake, generated with Verhoeff.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320040"/>
          </a:xfrm>
          <a:prstGeom prst="rect">
            <a:avLst/>
          </a:prstGeom>
          <a:noFill/>
        </p:spPr>
        <p:txBody>
          <a:bodyPr wrap="square" anchor="t" lIns="45720" rIns="45720">
            <a:spAutoFit/>
          </a:bodyPr>
          <a:lstStyle/>
          <a:p>
            <a:pPr algn="l">
              <a:lnSpc>
                <a:spcPct val="110000"/>
              </a:lnSpc>
            </a:pPr>
            <a:r>
              <a:rPr sz="1200" b="1">
                <a:solidFill>
                  <a:srgbClr val="128C7E"/>
                </a:solidFill>
                <a:latin typeface="Segoe UI"/>
              </a:rPr>
              <a:t>LIVE RESULT</a:t>
            </a:r>
          </a:p>
        </p:txBody>
      </p:sp>
      <p:sp>
        <p:nvSpPr>
          <p:cNvPr id="4" name="TextBox 3"/>
          <p:cNvSpPr txBox="1"/>
          <p:nvPr/>
        </p:nvSpPr>
        <p:spPr>
          <a:xfrm>
            <a:off x="548640" y="530352"/>
            <a:ext cx="10972800" cy="731520"/>
          </a:xfrm>
          <a:prstGeom prst="rect">
            <a:avLst/>
          </a:prstGeom>
          <a:noFill/>
        </p:spPr>
        <p:txBody>
          <a:bodyPr wrap="square" anchor="t" lIns="45720" rIns="45720">
            <a:spAutoFit/>
          </a:bodyPr>
          <a:lstStyle/>
          <a:p>
            <a:pPr algn="l">
              <a:lnSpc>
                <a:spcPct val="110000"/>
              </a:lnSpc>
            </a:pPr>
            <a:r>
              <a:rPr sz="3000" b="1">
                <a:solidFill>
                  <a:srgbClr val="075E54"/>
                </a:solidFill>
                <a:latin typeface="Segoe UI"/>
              </a:rPr>
              <a:t>DLP in action: card number blocked</a:t>
            </a:r>
          </a:p>
        </p:txBody>
      </p:sp>
      <p:sp>
        <p:nvSpPr>
          <p:cNvPr id="5" name="TextBox 4"/>
          <p:cNvSpPr txBox="1"/>
          <p:nvPr/>
        </p:nvSpPr>
        <p:spPr>
          <a:xfrm>
            <a:off x="548640" y="6446520"/>
            <a:ext cx="7315200" cy="274320"/>
          </a:xfrm>
          <a:prstGeom prst="rect">
            <a:avLst/>
          </a:prstGeom>
          <a:noFill/>
        </p:spPr>
        <p:txBody>
          <a:bodyPr wrap="square" anchor="t" lIns="45720" rIns="45720">
            <a:spAutoFit/>
          </a:bodyPr>
          <a:lstStyle/>
          <a:p>
            <a:pPr algn="l">
              <a:lnSpc>
                <a:spcPct val="110000"/>
              </a:lnSpc>
            </a:pPr>
            <a:r>
              <a:rPr sz="1000" b="0">
                <a:solidFill>
                  <a:srgbClr val="5B6B75"/>
                </a:solidFill>
                <a:latin typeface="Segoe UI"/>
              </a:rPr>
              <a:t>🛡 ShieldChat · Secure Enterprise Chat with DLP</a:t>
            </a:r>
          </a:p>
        </p:txBody>
      </p:sp>
      <p:sp>
        <p:nvSpPr>
          <p:cNvPr id="6" name="TextBox 5"/>
          <p:cNvSpPr txBox="1"/>
          <p:nvPr/>
        </p:nvSpPr>
        <p:spPr>
          <a:xfrm>
            <a:off x="10881360" y="6446520"/>
            <a:ext cx="914400" cy="274320"/>
          </a:xfrm>
          <a:prstGeom prst="rect">
            <a:avLst/>
          </a:prstGeom>
          <a:noFill/>
        </p:spPr>
        <p:txBody>
          <a:bodyPr wrap="square" anchor="t" lIns="45720" rIns="45720">
            <a:spAutoFit/>
          </a:bodyPr>
          <a:lstStyle/>
          <a:p>
            <a:pPr algn="r">
              <a:lnSpc>
                <a:spcPct val="110000"/>
              </a:lnSpc>
            </a:pPr>
            <a:r>
              <a:rPr sz="1000" b="0">
                <a:solidFill>
                  <a:srgbClr val="5B6B75"/>
                </a:solidFill>
                <a:latin typeface="Segoe UI"/>
              </a:rPr>
              <a:t>10 / 18</a:t>
            </a:r>
          </a:p>
        </p:txBody>
      </p:sp>
      <p:pic>
        <p:nvPicPr>
          <p:cNvPr id="7" name="Picture 6" descr="s3_dlp.png"/>
          <p:cNvPicPr>
            <a:picLocks noChangeAspect="1"/>
          </p:cNvPicPr>
          <p:nvPr/>
        </p:nvPicPr>
        <p:blipFill>
          <a:blip r:embed="rId3"/>
          <a:stretch>
            <a:fillRect/>
          </a:stretch>
        </p:blipFill>
        <p:spPr>
          <a:xfrm>
            <a:off x="548640" y="1417320"/>
            <a:ext cx="7543800" cy="4800600"/>
          </a:xfrm>
          <a:prstGeom prst="rect">
            <a:avLst/>
          </a:prstGeom>
          <a:ln w="12700">
            <a:solidFill>
              <a:srgbClr val="C9D1D6"/>
            </a:solidFill>
          </a:ln>
        </p:spPr>
      </p:pic>
      <p:sp>
        <p:nvSpPr>
          <p:cNvPr id="8" name="TextBox 7"/>
          <p:cNvSpPr txBox="1"/>
          <p:nvPr/>
        </p:nvSpPr>
        <p:spPr>
          <a:xfrm>
            <a:off x="8321040" y="1463040"/>
            <a:ext cx="3474720" cy="457200"/>
          </a:xfrm>
          <a:prstGeom prst="rect">
            <a:avLst/>
          </a:prstGeom>
          <a:noFill/>
        </p:spPr>
        <p:txBody>
          <a:bodyPr wrap="square" anchor="t" lIns="45720" rIns="45720">
            <a:spAutoFit/>
          </a:bodyPr>
          <a:lstStyle/>
          <a:p>
            <a:pPr algn="l">
              <a:lnSpc>
                <a:spcPct val="110000"/>
              </a:lnSpc>
            </a:pPr>
            <a:r>
              <a:rPr sz="1400" b="1">
                <a:solidFill>
                  <a:srgbClr val="5B6B75"/>
                </a:solidFill>
                <a:latin typeface="Segoe UI"/>
              </a:rPr>
              <a:t>Alice typed:</a:t>
            </a:r>
          </a:p>
        </p:txBody>
      </p:sp>
      <p:sp>
        <p:nvSpPr>
          <p:cNvPr id="9" name="Rounded Rectangle 8"/>
          <p:cNvSpPr/>
          <p:nvPr/>
        </p:nvSpPr>
        <p:spPr>
          <a:xfrm>
            <a:off x="8321040" y="1874519"/>
            <a:ext cx="3429000" cy="1051560"/>
          </a:xfrm>
          <a:prstGeom prst="roundRect">
            <a:avLst>
              <a:gd name="adj" fmla="val 8000"/>
            </a:avLst>
          </a:prstGeom>
          <a:solidFill>
            <a:srgbClr val="D9F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58200" y="1920240"/>
            <a:ext cx="3200400" cy="960120"/>
          </a:xfrm>
          <a:prstGeom prst="rect">
            <a:avLst/>
          </a:prstGeom>
          <a:noFill/>
        </p:spPr>
        <p:txBody>
          <a:bodyPr wrap="square" anchor="ctr" lIns="45720" rIns="45720">
            <a:spAutoFit/>
          </a:bodyPr>
          <a:lstStyle/>
          <a:p>
            <a:pPr algn="l">
              <a:lnSpc>
                <a:spcPct val="110000"/>
              </a:lnSpc>
            </a:pPr>
            <a:r>
              <a:rPr sz="1300" b="0">
                <a:solidFill>
                  <a:srgbClr val="111B21"/>
                </a:solidFill>
                <a:latin typeface="Segoe UI"/>
              </a:rPr>
              <a:t>Hi Bob, here is the client card: Visa: 4485 3647 3952 7352 Expires: 2/2009</a:t>
            </a:r>
          </a:p>
        </p:txBody>
      </p:sp>
      <p:sp>
        <p:nvSpPr>
          <p:cNvPr id="11" name="TextBox 10"/>
          <p:cNvSpPr txBox="1"/>
          <p:nvPr/>
        </p:nvSpPr>
        <p:spPr>
          <a:xfrm>
            <a:off x="8321040" y="3108960"/>
            <a:ext cx="3474720" cy="457200"/>
          </a:xfrm>
          <a:prstGeom prst="rect">
            <a:avLst/>
          </a:prstGeom>
          <a:noFill/>
        </p:spPr>
        <p:txBody>
          <a:bodyPr wrap="square" anchor="t" lIns="45720" rIns="45720">
            <a:spAutoFit/>
          </a:bodyPr>
          <a:lstStyle/>
          <a:p>
            <a:pPr algn="l">
              <a:lnSpc>
                <a:spcPct val="110000"/>
              </a:lnSpc>
            </a:pPr>
            <a:r>
              <a:rPr sz="1400" b="1">
                <a:solidFill>
                  <a:srgbClr val="5B6B75"/>
                </a:solidFill>
                <a:latin typeface="Segoe UI"/>
              </a:rPr>
              <a:t>Bob received (masked):</a:t>
            </a:r>
          </a:p>
        </p:txBody>
      </p:sp>
      <p:sp>
        <p:nvSpPr>
          <p:cNvPr id="12" name="Rounded Rectangle 11"/>
          <p:cNvSpPr/>
          <p:nvPr/>
        </p:nvSpPr>
        <p:spPr>
          <a:xfrm>
            <a:off x="8321040" y="3520440"/>
            <a:ext cx="3429000" cy="1051560"/>
          </a:xfrm>
          <a:prstGeom prst="roundRect">
            <a:avLst>
              <a:gd name="adj" fmla="val 8000"/>
            </a:avLst>
          </a:prstGeom>
          <a:solidFill>
            <a:srgbClr val="FFFFFF"/>
          </a:solidFill>
          <a:ln w="15875">
            <a:solidFill>
              <a:srgbClr val="D5D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200" y="3566160"/>
            <a:ext cx="3200400" cy="960120"/>
          </a:xfrm>
          <a:prstGeom prst="rect">
            <a:avLst/>
          </a:prstGeom>
          <a:noFill/>
        </p:spPr>
        <p:txBody>
          <a:bodyPr wrap="square" anchor="ctr" lIns="45720" rIns="45720">
            <a:spAutoFit/>
          </a:bodyPr>
          <a:lstStyle/>
          <a:p>
            <a:pPr algn="l">
              <a:lnSpc>
                <a:spcPct val="110000"/>
              </a:lnSpc>
            </a:pPr>
            <a:r>
              <a:rPr sz="1300" b="0">
                <a:solidFill>
                  <a:srgbClr val="111B21"/>
                </a:solidFill>
                <a:latin typeface="Segoe UI"/>
              </a:rPr>
              <a:t>Hi Bob, here is the client card: Visa: XXXX XXXX XXXX 7352 Expires: XX/XX</a:t>
            </a:r>
          </a:p>
        </p:txBody>
      </p:sp>
      <p:sp>
        <p:nvSpPr>
          <p:cNvPr id="14" name="TextBox 13"/>
          <p:cNvSpPr txBox="1"/>
          <p:nvPr/>
        </p:nvSpPr>
        <p:spPr>
          <a:xfrm>
            <a:off x="8321040" y="4800600"/>
            <a:ext cx="3474720" cy="1463040"/>
          </a:xfrm>
          <a:prstGeom prst="rect">
            <a:avLst/>
          </a:prstGeom>
          <a:noFill/>
        </p:spPr>
        <p:txBody>
          <a:bodyPr wrap="square">
            <a:spAutoFit/>
          </a:bodyPr>
          <a:lstStyle/>
          <a:p>
            <a:pPr>
              <a:lnSpc>
                <a:spcPct val="110000"/>
              </a:lnSpc>
              <a:spcAft>
                <a:spcPts val="300"/>
              </a:spcAft>
            </a:pPr>
            <a:r>
              <a:rPr sz="1300" b="1">
                <a:solidFill>
                  <a:srgbClr val="128C7E"/>
                </a:solidFill>
                <a:latin typeface="Segoe UI"/>
              </a:rPr>
              <a:t>•  </a:t>
            </a:r>
            <a:r>
              <a:rPr sz="1300">
                <a:solidFill>
                  <a:srgbClr val="111B21"/>
                </a:solidFill>
                <a:latin typeface="Segoe UI"/>
              </a:rPr>
              <a:t>Visa identified from the leading 4</a:t>
            </a:r>
          </a:p>
          <a:p>
            <a:pPr>
              <a:lnSpc>
                <a:spcPct val="110000"/>
              </a:lnSpc>
              <a:spcAft>
                <a:spcPts val="300"/>
              </a:spcAft>
            </a:pPr>
            <a:r>
              <a:rPr sz="1300" b="1">
                <a:solidFill>
                  <a:srgbClr val="128C7E"/>
                </a:solidFill>
                <a:latin typeface="Segoe UI"/>
              </a:rPr>
              <a:t>•  </a:t>
            </a:r>
            <a:r>
              <a:rPr sz="1300">
                <a:solidFill>
                  <a:srgbClr val="111B21"/>
                </a:solidFill>
                <a:latin typeface="Segoe UI"/>
              </a:rPr>
              <a:t>Expiry date caught too</a:t>
            </a:r>
          </a:p>
          <a:p>
            <a:pPr>
              <a:lnSpc>
                <a:spcPct val="110000"/>
              </a:lnSpc>
              <a:spcAft>
                <a:spcPts val="300"/>
              </a:spcAft>
            </a:pPr>
            <a:r>
              <a:rPr sz="1300" b="1">
                <a:solidFill>
                  <a:srgbClr val="128C7E"/>
                </a:solidFill>
                <a:latin typeface="Segoe UI"/>
              </a:rPr>
              <a:t>•  </a:t>
            </a:r>
            <a:r>
              <a:rPr sz="1300">
                <a:solidFill>
                  <a:srgbClr val="111B21"/>
                </a:solidFill>
                <a:latin typeface="Segoe UI"/>
              </a:rPr>
              <a:t>Incident logged with masked value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320040"/>
          </a:xfrm>
          <a:prstGeom prst="rect">
            <a:avLst/>
          </a:prstGeom>
          <a:noFill/>
        </p:spPr>
        <p:txBody>
          <a:bodyPr wrap="square" anchor="t" lIns="45720" rIns="45720">
            <a:spAutoFit/>
          </a:bodyPr>
          <a:lstStyle/>
          <a:p>
            <a:pPr algn="l">
              <a:lnSpc>
                <a:spcPct val="110000"/>
              </a:lnSpc>
            </a:pPr>
            <a:r>
              <a:rPr sz="1200" b="1">
                <a:solidFill>
                  <a:srgbClr val="128C7E"/>
                </a:solidFill>
                <a:latin typeface="Segoe UI"/>
              </a:rPr>
              <a:t>FEATURE 3 · AI INTEGRATION</a:t>
            </a:r>
          </a:p>
        </p:txBody>
      </p:sp>
      <p:sp>
        <p:nvSpPr>
          <p:cNvPr id="4" name="TextBox 3"/>
          <p:cNvSpPr txBox="1"/>
          <p:nvPr/>
        </p:nvSpPr>
        <p:spPr>
          <a:xfrm>
            <a:off x="548640" y="530352"/>
            <a:ext cx="10972800" cy="731520"/>
          </a:xfrm>
          <a:prstGeom prst="rect">
            <a:avLst/>
          </a:prstGeom>
          <a:noFill/>
        </p:spPr>
        <p:txBody>
          <a:bodyPr wrap="square" anchor="t" lIns="45720" rIns="45720">
            <a:spAutoFit/>
          </a:bodyPr>
          <a:lstStyle/>
          <a:p>
            <a:pPr algn="l">
              <a:lnSpc>
                <a:spcPct val="110000"/>
              </a:lnSpc>
            </a:pPr>
            <a:r>
              <a:rPr sz="3000" b="1">
                <a:solidFill>
                  <a:srgbClr val="075E54"/>
                </a:solidFill>
                <a:latin typeface="Segoe UI"/>
              </a:rPr>
              <a:t>Gemini AI: Layer 2 DLP + tone assistant</a:t>
            </a:r>
          </a:p>
        </p:txBody>
      </p:sp>
      <p:sp>
        <p:nvSpPr>
          <p:cNvPr id="5" name="TextBox 4"/>
          <p:cNvSpPr txBox="1"/>
          <p:nvPr/>
        </p:nvSpPr>
        <p:spPr>
          <a:xfrm>
            <a:off x="548640" y="6446520"/>
            <a:ext cx="7315200" cy="274320"/>
          </a:xfrm>
          <a:prstGeom prst="rect">
            <a:avLst/>
          </a:prstGeom>
          <a:noFill/>
        </p:spPr>
        <p:txBody>
          <a:bodyPr wrap="square" anchor="t" lIns="45720" rIns="45720">
            <a:spAutoFit/>
          </a:bodyPr>
          <a:lstStyle/>
          <a:p>
            <a:pPr algn="l">
              <a:lnSpc>
                <a:spcPct val="110000"/>
              </a:lnSpc>
            </a:pPr>
            <a:r>
              <a:rPr sz="1000" b="0">
                <a:solidFill>
                  <a:srgbClr val="5B6B75"/>
                </a:solidFill>
                <a:latin typeface="Segoe UI"/>
              </a:rPr>
              <a:t>🛡 ShieldChat · Secure Enterprise Chat with DLP</a:t>
            </a:r>
          </a:p>
        </p:txBody>
      </p:sp>
      <p:sp>
        <p:nvSpPr>
          <p:cNvPr id="6" name="TextBox 5"/>
          <p:cNvSpPr txBox="1"/>
          <p:nvPr/>
        </p:nvSpPr>
        <p:spPr>
          <a:xfrm>
            <a:off x="10881360" y="6446520"/>
            <a:ext cx="914400" cy="274320"/>
          </a:xfrm>
          <a:prstGeom prst="rect">
            <a:avLst/>
          </a:prstGeom>
          <a:noFill/>
        </p:spPr>
        <p:txBody>
          <a:bodyPr wrap="square" anchor="t" lIns="45720" rIns="45720">
            <a:spAutoFit/>
          </a:bodyPr>
          <a:lstStyle/>
          <a:p>
            <a:pPr algn="r">
              <a:lnSpc>
                <a:spcPct val="110000"/>
              </a:lnSpc>
            </a:pPr>
            <a:r>
              <a:rPr sz="1000" b="0">
                <a:solidFill>
                  <a:srgbClr val="5B6B75"/>
                </a:solidFill>
                <a:latin typeface="Segoe UI"/>
              </a:rPr>
              <a:t>11 / 18</a:t>
            </a:r>
          </a:p>
        </p:txBody>
      </p:sp>
      <p:sp>
        <p:nvSpPr>
          <p:cNvPr id="7" name="Rounded Rectangle 6"/>
          <p:cNvSpPr/>
          <p:nvPr/>
        </p:nvSpPr>
        <p:spPr>
          <a:xfrm>
            <a:off x="548640" y="1463040"/>
            <a:ext cx="5120640" cy="2514600"/>
          </a:xfrm>
          <a:prstGeom prst="roundRect">
            <a:avLst>
              <a:gd name="adj" fmla="val 8000"/>
            </a:avLst>
          </a:prstGeom>
          <a:solidFill>
            <a:srgbClr val="1E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0200"/>
            <a:ext cx="4754880" cy="2240280"/>
          </a:xfrm>
          <a:prstGeom prst="rect">
            <a:avLst/>
          </a:prstGeom>
          <a:noFill/>
        </p:spPr>
        <p:txBody>
          <a:bodyPr wrap="square" anchor="t" lIns="45720" rIns="45720">
            <a:spAutoFit/>
          </a:bodyPr>
          <a:lstStyle/>
          <a:p>
            <a:pPr algn="l">
              <a:lnSpc>
                <a:spcPct val="105000"/>
              </a:lnSpc>
            </a:pPr>
            <a:r>
              <a:rPr sz="1300" b="0">
                <a:solidFill>
                  <a:srgbClr val="D7F5EE"/>
                </a:solidFill>
                <a:latin typeface="Consolas"/>
              </a:rPr>
              <a:t>// One Gemini call → strict JSON</a:t>
            </a:r>
          </a:p>
          <a:p>
            <a:pPr algn="l">
              <a:lnSpc>
                <a:spcPct val="105000"/>
              </a:lnSpc>
            </a:pPr>
            <a:r>
              <a:rPr sz="1300" b="0">
                <a:solidFill>
                  <a:srgbClr val="D7F5EE"/>
                </a:solidFill>
                <a:latin typeface="Consolas"/>
              </a:rPr>
              <a:t>{</a:t>
            </a:r>
          </a:p>
          <a:p>
            <a:pPr algn="l">
              <a:lnSpc>
                <a:spcPct val="105000"/>
              </a:lnSpc>
            </a:pPr>
            <a:r>
              <a:rPr sz="1300" b="0">
                <a:solidFill>
                  <a:srgbClr val="D7F5EE"/>
                </a:solidFill>
                <a:latin typeface="Consolas"/>
              </a:rPr>
              <a:t>  "is_unprofessional": true,</a:t>
            </a:r>
          </a:p>
          <a:p>
            <a:pPr algn="l">
              <a:lnSpc>
                <a:spcPct val="105000"/>
              </a:lnSpc>
            </a:pPr>
            <a:r>
              <a:rPr sz="1300" b="0">
                <a:solidFill>
                  <a:srgbClr val="D7F5EE"/>
                </a:solidFill>
                <a:latin typeface="Consolas"/>
              </a:rPr>
              <a:t>  "tone": "aggressive",</a:t>
            </a:r>
          </a:p>
          <a:p>
            <a:pPr algn="l">
              <a:lnSpc>
                <a:spcPct val="105000"/>
              </a:lnSpc>
            </a:pPr>
            <a:r>
              <a:rPr sz="1300" b="0">
                <a:solidFill>
                  <a:srgbClr val="D7F5EE"/>
                </a:solidFill>
                <a:latin typeface="Consolas"/>
              </a:rPr>
              <a:t>  "suggestion": "Could you please share</a:t>
            </a:r>
          </a:p>
          <a:p>
            <a:pPr algn="l">
              <a:lnSpc>
                <a:spcPct val="105000"/>
              </a:lnSpc>
            </a:pPr>
            <a:r>
              <a:rPr sz="1300" b="0">
                <a:solidFill>
                  <a:srgbClr val="D7F5EE"/>
                </a:solidFill>
                <a:latin typeface="Consolas"/>
              </a:rPr>
              <a:t>        the report when you get a chance?",</a:t>
            </a:r>
          </a:p>
          <a:p>
            <a:pPr algn="l">
              <a:lnSpc>
                <a:spcPct val="105000"/>
              </a:lnSpc>
            </a:pPr>
            <a:r>
              <a:rPr sz="1300" b="0">
                <a:solidFill>
                  <a:srgbClr val="D7F5EE"/>
                </a:solidFill>
                <a:latin typeface="Consolas"/>
              </a:rPr>
              <a:t>  "sensitive_detected": false,</a:t>
            </a:r>
          </a:p>
          <a:p>
            <a:pPr algn="l">
              <a:lnSpc>
                <a:spcPct val="105000"/>
              </a:lnSpc>
            </a:pPr>
            <a:r>
              <a:rPr sz="1300" b="0">
                <a:solidFill>
                  <a:srgbClr val="D7F5EE"/>
                </a:solidFill>
                <a:latin typeface="Consolas"/>
              </a:rPr>
              <a:t>  "sensitive_reason": ""</a:t>
            </a:r>
          </a:p>
          <a:p>
            <a:pPr algn="l">
              <a:lnSpc>
                <a:spcPct val="105000"/>
              </a:lnSpc>
            </a:pPr>
            <a:r>
              <a:rPr sz="1300" b="0">
                <a:solidFill>
                  <a:srgbClr val="D7F5EE"/>
                </a:solidFill>
                <a:latin typeface="Consolas"/>
              </a:rPr>
              <a:t>}</a:t>
            </a:r>
          </a:p>
        </p:txBody>
      </p:sp>
      <p:sp>
        <p:nvSpPr>
          <p:cNvPr id="9" name="TextBox 8"/>
          <p:cNvSpPr txBox="1"/>
          <p:nvPr/>
        </p:nvSpPr>
        <p:spPr>
          <a:xfrm>
            <a:off x="548640" y="4114800"/>
            <a:ext cx="5120640" cy="365760"/>
          </a:xfrm>
          <a:prstGeom prst="rect">
            <a:avLst/>
          </a:prstGeom>
          <a:noFill/>
        </p:spPr>
        <p:txBody>
          <a:bodyPr wrap="square" anchor="t" lIns="45720" rIns="45720">
            <a:spAutoFit/>
          </a:bodyPr>
          <a:lstStyle/>
          <a:p>
            <a:pPr algn="l">
              <a:lnSpc>
                <a:spcPct val="110000"/>
              </a:lnSpc>
            </a:pPr>
            <a:r>
              <a:rPr sz="1500" b="1">
                <a:solidFill>
                  <a:srgbClr val="1A56C4"/>
                </a:solidFill>
                <a:latin typeface="Segoe UI"/>
              </a:rPr>
              <a:t>Catches what patterns miss:</a:t>
            </a:r>
          </a:p>
        </p:txBody>
      </p:sp>
      <p:sp>
        <p:nvSpPr>
          <p:cNvPr id="10" name="TextBox 9"/>
          <p:cNvSpPr txBox="1"/>
          <p:nvPr/>
        </p:nvSpPr>
        <p:spPr>
          <a:xfrm>
            <a:off x="548640" y="4526280"/>
            <a:ext cx="5120640" cy="1737360"/>
          </a:xfrm>
          <a:prstGeom prst="rect">
            <a:avLst/>
          </a:prstGeom>
          <a:noFill/>
        </p:spPr>
        <p:txBody>
          <a:bodyPr wrap="square">
            <a:spAutoFit/>
          </a:bodyPr>
          <a:lstStyle/>
          <a:p>
            <a:pPr>
              <a:lnSpc>
                <a:spcPct val="110000"/>
              </a:lnSpc>
              <a:spcAft>
                <a:spcPts val="400"/>
              </a:spcAft>
            </a:pPr>
            <a:r>
              <a:rPr sz="1400" b="1">
                <a:solidFill>
                  <a:srgbClr val="128C7E"/>
                </a:solidFill>
                <a:latin typeface="Segoe UI"/>
              </a:rPr>
              <a:t>•  </a:t>
            </a:r>
            <a:r>
              <a:rPr sz="1400">
                <a:solidFill>
                  <a:srgbClr val="111B21"/>
                </a:solidFill>
                <a:latin typeface="Segoe UI"/>
              </a:rPr>
              <a:t>Numbers written in words ("four four eight five…")</a:t>
            </a:r>
          </a:p>
          <a:p>
            <a:pPr>
              <a:lnSpc>
                <a:spcPct val="110000"/>
              </a:lnSpc>
              <a:spcAft>
                <a:spcPts val="400"/>
              </a:spcAft>
            </a:pPr>
            <a:r>
              <a:rPr sz="1400" b="1">
                <a:solidFill>
                  <a:srgbClr val="128C7E"/>
                </a:solidFill>
                <a:latin typeface="Segoe UI"/>
              </a:rPr>
              <a:t>•  </a:t>
            </a:r>
            <a:r>
              <a:rPr sz="1400">
                <a:solidFill>
                  <a:srgbClr val="111B21"/>
                </a:solidFill>
                <a:latin typeface="Segoe UI"/>
              </a:rPr>
              <a:t>Passwords, PINs, salary details</a:t>
            </a:r>
          </a:p>
          <a:p>
            <a:pPr>
              <a:lnSpc>
                <a:spcPct val="110000"/>
              </a:lnSpc>
              <a:spcAft>
                <a:spcPts val="400"/>
              </a:spcAft>
            </a:pPr>
            <a:r>
              <a:rPr sz="1400" b="1">
                <a:solidFill>
                  <a:srgbClr val="128C7E"/>
                </a:solidFill>
                <a:latin typeface="Segoe UI"/>
              </a:rPr>
              <a:t>•  </a:t>
            </a:r>
            <a:r>
              <a:rPr sz="1400">
                <a:solidFill>
                  <a:srgbClr val="111B21"/>
                </a:solidFill>
                <a:latin typeface="Segoe UI"/>
              </a:rPr>
              <a:t>Confidential project or customer information</a:t>
            </a:r>
          </a:p>
        </p:txBody>
      </p:sp>
      <p:sp>
        <p:nvSpPr>
          <p:cNvPr id="11" name="TextBox 10"/>
          <p:cNvSpPr txBox="1"/>
          <p:nvPr/>
        </p:nvSpPr>
        <p:spPr>
          <a:xfrm>
            <a:off x="6035040" y="1417320"/>
            <a:ext cx="5669280" cy="365760"/>
          </a:xfrm>
          <a:prstGeom prst="rect">
            <a:avLst/>
          </a:prstGeom>
          <a:noFill/>
        </p:spPr>
        <p:txBody>
          <a:bodyPr wrap="square" anchor="t" lIns="45720" rIns="45720">
            <a:spAutoFit/>
          </a:bodyPr>
          <a:lstStyle/>
          <a:p>
            <a:pPr algn="l">
              <a:lnSpc>
                <a:spcPct val="110000"/>
              </a:lnSpc>
            </a:pPr>
            <a:r>
              <a:rPr sz="1500" b="1">
                <a:solidFill>
                  <a:srgbClr val="8A6100"/>
                </a:solidFill>
                <a:latin typeface="Segoe UI"/>
              </a:rPr>
              <a:t>Tone assistant (never blocks)</a:t>
            </a:r>
          </a:p>
        </p:txBody>
      </p:sp>
      <p:sp>
        <p:nvSpPr>
          <p:cNvPr id="12" name="Rounded Rectangle 11"/>
          <p:cNvSpPr/>
          <p:nvPr/>
        </p:nvSpPr>
        <p:spPr>
          <a:xfrm>
            <a:off x="6035040" y="1828800"/>
            <a:ext cx="5669280" cy="685800"/>
          </a:xfrm>
          <a:prstGeom prst="roundRect">
            <a:avLst>
              <a:gd name="adj" fmla="val 8000"/>
            </a:avLst>
          </a:prstGeom>
          <a:solidFill>
            <a:srgbClr val="D9F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874519"/>
            <a:ext cx="5303520" cy="594360"/>
          </a:xfrm>
          <a:prstGeom prst="rect">
            <a:avLst/>
          </a:prstGeom>
          <a:noFill/>
        </p:spPr>
        <p:txBody>
          <a:bodyPr wrap="square" anchor="ctr" lIns="45720" rIns="45720">
            <a:spAutoFit/>
          </a:bodyPr>
          <a:lstStyle/>
          <a:p>
            <a:pPr algn="l">
              <a:lnSpc>
                <a:spcPct val="110000"/>
              </a:lnSpc>
            </a:pPr>
            <a:r>
              <a:rPr sz="1400" b="0">
                <a:solidFill>
                  <a:srgbClr val="111B21"/>
                </a:solidFill>
                <a:latin typeface="Segoe UI"/>
              </a:rPr>
              <a:t>"Send me the report now, why are you always so slow?"</a:t>
            </a:r>
          </a:p>
        </p:txBody>
      </p:sp>
      <p:sp>
        <p:nvSpPr>
          <p:cNvPr id="14" name="Rounded Rectangle 13"/>
          <p:cNvSpPr/>
          <p:nvPr/>
        </p:nvSpPr>
        <p:spPr>
          <a:xfrm>
            <a:off x="6035040" y="2697480"/>
            <a:ext cx="5669280" cy="1828800"/>
          </a:xfrm>
          <a:prstGeom prst="roundRect">
            <a:avLst>
              <a:gd name="adj" fmla="val 8000"/>
            </a:avLst>
          </a:prstGeom>
          <a:solidFill>
            <a:srgbClr val="FFF8DB"/>
          </a:solidFill>
          <a:ln w="15875">
            <a:solidFill>
              <a:srgbClr val="F1D6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2788920"/>
            <a:ext cx="5303520" cy="457200"/>
          </a:xfrm>
          <a:prstGeom prst="rect">
            <a:avLst/>
          </a:prstGeom>
          <a:noFill/>
        </p:spPr>
        <p:txBody>
          <a:bodyPr wrap="square" anchor="t" lIns="45720" rIns="45720">
            <a:spAutoFit/>
          </a:bodyPr>
          <a:lstStyle/>
          <a:p>
            <a:pPr algn="l">
              <a:lnSpc>
                <a:spcPct val="110000"/>
              </a:lnSpc>
            </a:pPr>
            <a:r>
              <a:rPr sz="1300" b="1">
                <a:solidFill>
                  <a:srgbClr val="8A6100"/>
                </a:solidFill>
                <a:latin typeface="Segoe UI"/>
              </a:rPr>
              <a:t>💡 Hint: This message can be conveyed in a more polite and professional way.</a:t>
            </a:r>
          </a:p>
        </p:txBody>
      </p:sp>
      <p:sp>
        <p:nvSpPr>
          <p:cNvPr id="16" name="Rounded Rectangle 15"/>
          <p:cNvSpPr/>
          <p:nvPr/>
        </p:nvSpPr>
        <p:spPr>
          <a:xfrm>
            <a:off x="6217920" y="3291840"/>
            <a:ext cx="5303520" cy="5486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3310128"/>
            <a:ext cx="5120640" cy="512064"/>
          </a:xfrm>
          <a:prstGeom prst="rect">
            <a:avLst/>
          </a:prstGeom>
          <a:noFill/>
        </p:spPr>
        <p:txBody>
          <a:bodyPr wrap="square" anchor="ctr" lIns="45720" rIns="45720">
            <a:spAutoFit/>
          </a:bodyPr>
          <a:lstStyle/>
          <a:p>
            <a:pPr algn="l">
              <a:lnSpc>
                <a:spcPct val="110000"/>
              </a:lnSpc>
            </a:pPr>
            <a:r>
              <a:rPr sz="1300" b="0">
                <a:solidFill>
                  <a:srgbClr val="111B21"/>
                </a:solidFill>
                <a:latin typeface="Segoe UI"/>
              </a:rPr>
              <a:t>Could you please share the report when you get a chance?</a:t>
            </a:r>
          </a:p>
        </p:txBody>
      </p:sp>
      <p:sp>
        <p:nvSpPr>
          <p:cNvPr id="18" name="Rounded Rectangle 17"/>
          <p:cNvSpPr/>
          <p:nvPr/>
        </p:nvSpPr>
        <p:spPr>
          <a:xfrm>
            <a:off x="6217920" y="4005072"/>
            <a:ext cx="1463040" cy="347472"/>
          </a:xfrm>
          <a:prstGeom prst="roundRect">
            <a:avLst>
              <a:gd name="adj" fmla="val 50000"/>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Segoe UI"/>
              </a:rPr>
              <a:t>Use suggestion</a:t>
            </a:r>
          </a:p>
        </p:txBody>
      </p:sp>
      <p:sp>
        <p:nvSpPr>
          <p:cNvPr id="19" name="Rounded Rectangle 18"/>
          <p:cNvSpPr/>
          <p:nvPr/>
        </p:nvSpPr>
        <p:spPr>
          <a:xfrm>
            <a:off x="7818120" y="4005072"/>
            <a:ext cx="1920240"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111B21"/>
                </a:solidFill>
                <a:latin typeface="Segoe UI"/>
              </a:rPr>
              <a:t>Send original anyway</a:t>
            </a:r>
          </a:p>
        </p:txBody>
      </p:sp>
      <p:sp>
        <p:nvSpPr>
          <p:cNvPr id="20" name="Rounded Rectangle 19"/>
          <p:cNvSpPr/>
          <p:nvPr/>
        </p:nvSpPr>
        <p:spPr>
          <a:xfrm>
            <a:off x="9875520" y="4005072"/>
            <a:ext cx="822960"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111B21"/>
                </a:solidFill>
                <a:latin typeface="Segoe UI"/>
              </a:rPr>
              <a:t>Edit</a:t>
            </a:r>
          </a:p>
        </p:txBody>
      </p:sp>
      <p:sp>
        <p:nvSpPr>
          <p:cNvPr id="21" name="TextBox 20"/>
          <p:cNvSpPr txBox="1"/>
          <p:nvPr/>
        </p:nvSpPr>
        <p:spPr>
          <a:xfrm>
            <a:off x="6035040" y="4572000"/>
            <a:ext cx="5669280" cy="274320"/>
          </a:xfrm>
          <a:prstGeom prst="rect">
            <a:avLst/>
          </a:prstGeom>
          <a:noFill/>
        </p:spPr>
        <p:txBody>
          <a:bodyPr wrap="square" anchor="t" lIns="45720" rIns="45720">
            <a:spAutoFit/>
          </a:bodyPr>
          <a:lstStyle/>
          <a:p>
            <a:pPr algn="r">
              <a:lnSpc>
                <a:spcPct val="110000"/>
              </a:lnSpc>
            </a:pPr>
            <a:r>
              <a:rPr sz="1000" b="0">
                <a:solidFill>
                  <a:srgbClr val="5B6B75"/>
                </a:solidFill>
                <a:latin typeface="Segoe UI"/>
              </a:rPr>
              <a:t>Illustration of the in-app hint card</a:t>
            </a:r>
          </a:p>
        </p:txBody>
      </p:sp>
      <p:sp>
        <p:nvSpPr>
          <p:cNvPr id="22" name="Rounded Rectangle 21"/>
          <p:cNvSpPr/>
          <p:nvPr/>
        </p:nvSpPr>
        <p:spPr>
          <a:xfrm>
            <a:off x="6035040" y="4983480"/>
            <a:ext cx="5669280" cy="1234440"/>
          </a:xfrm>
          <a:prstGeom prst="roundRect">
            <a:avLst>
              <a:gd name="adj" fmla="val 8000"/>
            </a:avLst>
          </a:prstGeom>
          <a:solidFill>
            <a:srgbClr val="E7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0" y="5047488"/>
            <a:ext cx="5394960" cy="1143000"/>
          </a:xfrm>
          <a:prstGeom prst="rect">
            <a:avLst/>
          </a:prstGeom>
          <a:noFill/>
        </p:spPr>
        <p:txBody>
          <a:bodyPr wrap="square" anchor="t" lIns="45720" rIns="45720">
            <a:spAutoFit/>
          </a:bodyPr>
          <a:lstStyle/>
          <a:p>
            <a:pPr algn="l">
              <a:lnSpc>
                <a:spcPct val="120000"/>
              </a:lnSpc>
            </a:pPr>
            <a:r>
              <a:rPr sz="1300" b="1">
                <a:solidFill>
                  <a:srgbClr val="D93025"/>
                </a:solidFill>
                <a:latin typeface="Segoe UI"/>
              </a:rPr>
              <a:t>Fail-closed for security: </a:t>
            </a:r>
            <a:r>
              <a:rPr sz="1300" b="0">
                <a:solidFill>
                  <a:srgbClr val="111B21"/>
                </a:solidFill>
                <a:latin typeface="Segoe UI"/>
              </a:rPr>
              <a:t>Layer 1 always runs, even offline.</a:t>
            </a:r>
          </a:p>
          <a:p>
            <a:pPr algn="l">
              <a:lnSpc>
                <a:spcPct val="120000"/>
              </a:lnSpc>
            </a:pPr>
            <a:r>
              <a:rPr sz="1300" b="1">
                <a:solidFill>
                  <a:srgbClr val="075E54"/>
                </a:solidFill>
                <a:latin typeface="Segoe UI"/>
              </a:rPr>
              <a:t>Fail-open for convenience: </a:t>
            </a:r>
            <a:r>
              <a:rPr sz="1300" b="0">
                <a:solidFill>
                  <a:srgbClr val="111B21"/>
                </a:solidFill>
                <a:latin typeface="Segoe UI"/>
              </a:rPr>
              <a:t>if Gemini fails or takes over 5 s, the message is still sent.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320040"/>
          </a:xfrm>
          <a:prstGeom prst="rect">
            <a:avLst/>
          </a:prstGeom>
          <a:noFill/>
        </p:spPr>
        <p:txBody>
          <a:bodyPr wrap="square" anchor="t" lIns="45720" rIns="45720">
            <a:spAutoFit/>
          </a:bodyPr>
          <a:lstStyle/>
          <a:p>
            <a:pPr algn="l">
              <a:lnSpc>
                <a:spcPct val="110000"/>
              </a:lnSpc>
            </a:pPr>
            <a:r>
              <a:rPr sz="1200" b="1">
                <a:solidFill>
                  <a:srgbClr val="128C7E"/>
                </a:solidFill>
                <a:latin typeface="Segoe UI"/>
              </a:rPr>
              <a:t>FEATURE 4 · ANTI-EXFILTRATION</a:t>
            </a:r>
          </a:p>
        </p:txBody>
      </p:sp>
      <p:sp>
        <p:nvSpPr>
          <p:cNvPr id="4" name="TextBox 3"/>
          <p:cNvSpPr txBox="1"/>
          <p:nvPr/>
        </p:nvSpPr>
        <p:spPr>
          <a:xfrm>
            <a:off x="548640" y="530352"/>
            <a:ext cx="10972800" cy="731520"/>
          </a:xfrm>
          <a:prstGeom prst="rect">
            <a:avLst/>
          </a:prstGeom>
          <a:noFill/>
        </p:spPr>
        <p:txBody>
          <a:bodyPr wrap="square" anchor="t" lIns="45720" rIns="45720">
            <a:spAutoFit/>
          </a:bodyPr>
          <a:lstStyle/>
          <a:p>
            <a:pPr algn="l">
              <a:lnSpc>
                <a:spcPct val="110000"/>
              </a:lnSpc>
            </a:pPr>
            <a:r>
              <a:rPr sz="3000" b="1">
                <a:solidFill>
                  <a:srgbClr val="075E54"/>
                </a:solidFill>
                <a:latin typeface="Segoe UI"/>
              </a:rPr>
              <a:t>Stopping data from walking out</a:t>
            </a:r>
          </a:p>
        </p:txBody>
      </p:sp>
      <p:sp>
        <p:nvSpPr>
          <p:cNvPr id="5" name="TextBox 4"/>
          <p:cNvSpPr txBox="1"/>
          <p:nvPr/>
        </p:nvSpPr>
        <p:spPr>
          <a:xfrm>
            <a:off x="548640" y="6446520"/>
            <a:ext cx="7315200" cy="274320"/>
          </a:xfrm>
          <a:prstGeom prst="rect">
            <a:avLst/>
          </a:prstGeom>
          <a:noFill/>
        </p:spPr>
        <p:txBody>
          <a:bodyPr wrap="square" anchor="t" lIns="45720" rIns="45720">
            <a:spAutoFit/>
          </a:bodyPr>
          <a:lstStyle/>
          <a:p>
            <a:pPr algn="l">
              <a:lnSpc>
                <a:spcPct val="110000"/>
              </a:lnSpc>
            </a:pPr>
            <a:r>
              <a:rPr sz="1000" b="0">
                <a:solidFill>
                  <a:srgbClr val="5B6B75"/>
                </a:solidFill>
                <a:latin typeface="Segoe UI"/>
              </a:rPr>
              <a:t>🛡 ShieldChat · Secure Enterprise Chat with DLP</a:t>
            </a:r>
          </a:p>
        </p:txBody>
      </p:sp>
      <p:sp>
        <p:nvSpPr>
          <p:cNvPr id="6" name="TextBox 5"/>
          <p:cNvSpPr txBox="1"/>
          <p:nvPr/>
        </p:nvSpPr>
        <p:spPr>
          <a:xfrm>
            <a:off x="10881360" y="6446520"/>
            <a:ext cx="914400" cy="274320"/>
          </a:xfrm>
          <a:prstGeom prst="rect">
            <a:avLst/>
          </a:prstGeom>
          <a:noFill/>
        </p:spPr>
        <p:txBody>
          <a:bodyPr wrap="square" anchor="t" lIns="45720" rIns="45720">
            <a:spAutoFit/>
          </a:bodyPr>
          <a:lstStyle/>
          <a:p>
            <a:pPr algn="r">
              <a:lnSpc>
                <a:spcPct val="110000"/>
              </a:lnSpc>
            </a:pPr>
            <a:r>
              <a:rPr sz="1000" b="0">
                <a:solidFill>
                  <a:srgbClr val="5B6B75"/>
                </a:solidFill>
                <a:latin typeface="Segoe UI"/>
              </a:rPr>
              <a:t>12 / 18</a:t>
            </a:r>
          </a:p>
        </p:txBody>
      </p:sp>
      <p:sp>
        <p:nvSpPr>
          <p:cNvPr id="7" name="TextBox 6"/>
          <p:cNvSpPr txBox="1"/>
          <p:nvPr/>
        </p:nvSpPr>
        <p:spPr>
          <a:xfrm>
            <a:off x="548640" y="1417320"/>
            <a:ext cx="4206240" cy="3931920"/>
          </a:xfrm>
          <a:prstGeom prst="rect">
            <a:avLst/>
          </a:prstGeom>
          <a:noFill/>
        </p:spPr>
        <p:txBody>
          <a:bodyPr wrap="square">
            <a:spAutoFit/>
          </a:bodyPr>
          <a:lstStyle/>
          <a:p>
            <a:pPr>
              <a:lnSpc>
                <a:spcPct val="110000"/>
              </a:lnSpc>
              <a:spcAft>
                <a:spcPts val="1000"/>
              </a:spcAft>
            </a:pPr>
            <a:r>
              <a:rPr sz="1500" b="1">
                <a:solidFill>
                  <a:srgbClr val="128C7E"/>
                </a:solidFill>
                <a:latin typeface="Segoe UI"/>
              </a:rPr>
              <a:t>•  </a:t>
            </a:r>
            <a:r>
              <a:rPr sz="1500" b="1">
                <a:solidFill>
                  <a:srgbClr val="111B21"/>
                </a:solidFill>
                <a:latin typeface="Segoe UI"/>
              </a:rPr>
              <a:t>Copy / cut / right-click blocked </a:t>
            </a:r>
            <a:r>
              <a:rPr sz="1500">
                <a:solidFill>
                  <a:srgbClr val="111B21"/>
                </a:solidFill>
                <a:latin typeface="Segoe UI"/>
              </a:rPr>
              <a:t>in the message area → toast + COPY_ATTEMPT log</a:t>
            </a:r>
          </a:p>
          <a:p>
            <a:pPr>
              <a:lnSpc>
                <a:spcPct val="110000"/>
              </a:lnSpc>
              <a:spcAft>
                <a:spcPts val="1000"/>
              </a:spcAft>
            </a:pPr>
            <a:r>
              <a:rPr sz="1500" b="1">
                <a:solidFill>
                  <a:srgbClr val="128C7E"/>
                </a:solidFill>
                <a:latin typeface="Segoe UI"/>
              </a:rPr>
              <a:t>•  </a:t>
            </a:r>
            <a:r>
              <a:rPr sz="1500" b="1">
                <a:solidFill>
                  <a:srgbClr val="111B21"/>
                </a:solidFill>
                <a:latin typeface="Segoe UI"/>
              </a:rPr>
              <a:t>Bulk paste (&gt; 200 chars) </a:t>
            </a:r>
            <a:r>
              <a:rPr sz="1500">
                <a:solidFill>
                  <a:srgbClr val="111B21"/>
                </a:solidFill>
                <a:latin typeface="Segoe UI"/>
              </a:rPr>
              <a:t>allowed but logged (size only)</a:t>
            </a:r>
          </a:p>
          <a:p>
            <a:pPr>
              <a:lnSpc>
                <a:spcPct val="110000"/>
              </a:lnSpc>
              <a:spcAft>
                <a:spcPts val="1000"/>
              </a:spcAft>
            </a:pPr>
            <a:r>
              <a:rPr sz="1500" b="1">
                <a:solidFill>
                  <a:srgbClr val="128C7E"/>
                </a:solidFill>
                <a:latin typeface="Segoe UI"/>
              </a:rPr>
              <a:t>•  </a:t>
            </a:r>
            <a:r>
              <a:rPr sz="1500" b="1">
                <a:solidFill>
                  <a:srgbClr val="111B21"/>
                </a:solidFill>
                <a:latin typeface="Segoe UI"/>
              </a:rPr>
              <a:t>Dynamic watermark: </a:t>
            </a:r>
            <a:r>
              <a:rPr sz="1500">
                <a:solidFill>
                  <a:srgbClr val="111B21"/>
                </a:solidFill>
                <a:latin typeface="Segoe UI"/>
              </a:rPr>
              <a:t>email + date/time on every screen</a:t>
            </a:r>
          </a:p>
          <a:p>
            <a:pPr>
              <a:lnSpc>
                <a:spcPct val="110000"/>
              </a:lnSpc>
              <a:spcAft>
                <a:spcPts val="1000"/>
              </a:spcAft>
            </a:pPr>
            <a:r>
              <a:rPr sz="1500" b="1">
                <a:solidFill>
                  <a:srgbClr val="128C7E"/>
                </a:solidFill>
                <a:latin typeface="Segoe UI"/>
              </a:rPr>
              <a:t>•  </a:t>
            </a:r>
            <a:r>
              <a:rPr sz="1500" b="1">
                <a:solidFill>
                  <a:srgbClr val="111B21"/>
                </a:solidFill>
                <a:latin typeface="Segoe UI"/>
              </a:rPr>
              <a:t>Privacy blur </a:t>
            </a:r>
            <a:r>
              <a:rPr sz="1500">
                <a:solidFill>
                  <a:srgbClr val="111B21"/>
                </a:solidFill>
                <a:latin typeface="Segoe UI"/>
              </a:rPr>
              <a:t>when the window loses focus</a:t>
            </a:r>
          </a:p>
          <a:p>
            <a:pPr>
              <a:lnSpc>
                <a:spcPct val="110000"/>
              </a:lnSpc>
              <a:spcAft>
                <a:spcPts val="1000"/>
              </a:spcAft>
            </a:pPr>
            <a:r>
              <a:rPr sz="1500" b="1">
                <a:solidFill>
                  <a:srgbClr val="128C7E"/>
                </a:solidFill>
                <a:latin typeface="Segoe UI"/>
              </a:rPr>
              <a:t>•  </a:t>
            </a:r>
            <a:r>
              <a:rPr sz="1500" b="1">
                <a:solidFill>
                  <a:srgbClr val="111B21"/>
                </a:solidFill>
                <a:latin typeface="Segoe UI"/>
              </a:rPr>
              <a:t>Printing disabled: </a:t>
            </a:r>
            <a:r>
              <a:rPr sz="1500">
                <a:solidFill>
                  <a:srgbClr val="111B21"/>
                </a:solidFill>
                <a:latin typeface="Segoe UI"/>
              </a:rPr>
              <a:t>page prints blank</a:t>
            </a:r>
          </a:p>
        </p:txBody>
      </p:sp>
      <p:pic>
        <p:nvPicPr>
          <p:cNvPr id="8" name="Picture 7" descr="s5_watermark.png"/>
          <p:cNvPicPr>
            <a:picLocks noChangeAspect="1"/>
          </p:cNvPicPr>
          <p:nvPr/>
        </p:nvPicPr>
        <p:blipFill>
          <a:blip r:embed="rId3"/>
          <a:stretch>
            <a:fillRect/>
          </a:stretch>
        </p:blipFill>
        <p:spPr>
          <a:xfrm>
            <a:off x="4937760" y="1463040"/>
            <a:ext cx="3337560" cy="2123902"/>
          </a:xfrm>
          <a:prstGeom prst="rect">
            <a:avLst/>
          </a:prstGeom>
          <a:ln w="12700">
            <a:solidFill>
              <a:srgbClr val="C9D1D6"/>
            </a:solidFill>
          </a:ln>
        </p:spPr>
      </p:pic>
      <p:pic>
        <p:nvPicPr>
          <p:cNvPr id="9" name="Picture 8" descr="s5b_blur.png"/>
          <p:cNvPicPr>
            <a:picLocks noChangeAspect="1"/>
          </p:cNvPicPr>
          <p:nvPr/>
        </p:nvPicPr>
        <p:blipFill>
          <a:blip r:embed="rId4"/>
          <a:stretch>
            <a:fillRect/>
          </a:stretch>
        </p:blipFill>
        <p:spPr>
          <a:xfrm>
            <a:off x="8412480" y="1463040"/>
            <a:ext cx="3337560" cy="2123902"/>
          </a:xfrm>
          <a:prstGeom prst="rect">
            <a:avLst/>
          </a:prstGeom>
          <a:ln w="12700">
            <a:solidFill>
              <a:srgbClr val="C9D1D6"/>
            </a:solidFill>
          </a:ln>
        </p:spPr>
      </p:pic>
      <p:sp>
        <p:nvSpPr>
          <p:cNvPr id="10" name="TextBox 9"/>
          <p:cNvSpPr txBox="1"/>
          <p:nvPr/>
        </p:nvSpPr>
        <p:spPr>
          <a:xfrm>
            <a:off x="4937760" y="3657600"/>
            <a:ext cx="3337560" cy="320040"/>
          </a:xfrm>
          <a:prstGeom prst="rect">
            <a:avLst/>
          </a:prstGeom>
          <a:noFill/>
        </p:spPr>
        <p:txBody>
          <a:bodyPr wrap="square" anchor="t" lIns="45720" rIns="45720">
            <a:spAutoFit/>
          </a:bodyPr>
          <a:lstStyle/>
          <a:p>
            <a:pPr algn="ctr">
              <a:lnSpc>
                <a:spcPct val="110000"/>
              </a:lnSpc>
            </a:pPr>
            <a:r>
              <a:rPr sz="1100" b="0">
                <a:solidFill>
                  <a:srgbClr val="5B6B75"/>
                </a:solidFill>
                <a:latin typeface="Segoe UI"/>
              </a:rPr>
              <a:t>Watermark + "Printing is disabled"</a:t>
            </a:r>
          </a:p>
        </p:txBody>
      </p:sp>
      <p:sp>
        <p:nvSpPr>
          <p:cNvPr id="11" name="TextBox 10"/>
          <p:cNvSpPr txBox="1"/>
          <p:nvPr/>
        </p:nvSpPr>
        <p:spPr>
          <a:xfrm>
            <a:off x="8412480" y="3657600"/>
            <a:ext cx="3337560" cy="320040"/>
          </a:xfrm>
          <a:prstGeom prst="rect">
            <a:avLst/>
          </a:prstGeom>
          <a:noFill/>
        </p:spPr>
        <p:txBody>
          <a:bodyPr wrap="square" anchor="t" lIns="45720" rIns="45720">
            <a:spAutoFit/>
          </a:bodyPr>
          <a:lstStyle/>
          <a:p>
            <a:pPr algn="ctr">
              <a:lnSpc>
                <a:spcPct val="110000"/>
              </a:lnSpc>
            </a:pPr>
            <a:r>
              <a:rPr sz="1100" b="0">
                <a:solidFill>
                  <a:srgbClr val="5B6B75"/>
                </a:solidFill>
                <a:latin typeface="Segoe UI"/>
              </a:rPr>
              <a:t>Blurred when the window loses focus</a:t>
            </a:r>
          </a:p>
        </p:txBody>
      </p:sp>
      <p:sp>
        <p:nvSpPr>
          <p:cNvPr id="12" name="Rounded Rectangle 11"/>
          <p:cNvSpPr/>
          <p:nvPr/>
        </p:nvSpPr>
        <p:spPr>
          <a:xfrm>
            <a:off x="4937760" y="4251960"/>
            <a:ext cx="6812280" cy="1783080"/>
          </a:xfrm>
          <a:prstGeom prst="roundRect">
            <a:avLst>
              <a:gd name="adj" fmla="val 8000"/>
            </a:avLst>
          </a:prstGeom>
          <a:solidFill>
            <a:srgbClr val="FFF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66360" y="4343400"/>
            <a:ext cx="6400800" cy="1645920"/>
          </a:xfrm>
          <a:prstGeom prst="rect">
            <a:avLst/>
          </a:prstGeom>
          <a:noFill/>
        </p:spPr>
        <p:txBody>
          <a:bodyPr wrap="square" anchor="t" lIns="45720" rIns="45720">
            <a:spAutoFit/>
          </a:bodyPr>
          <a:lstStyle/>
          <a:p>
            <a:pPr algn="l">
              <a:lnSpc>
                <a:spcPct val="125000"/>
              </a:lnSpc>
            </a:pPr>
            <a:r>
              <a:rPr sz="1600" b="1">
                <a:solidFill>
                  <a:srgbClr val="8A6100"/>
                </a:solidFill>
                <a:latin typeface="Segoe UI"/>
              </a:rPr>
              <a:t>Honest limitation</a:t>
            </a:r>
          </a:p>
          <a:p>
            <a:pPr algn="l">
              <a:lnSpc>
                <a:spcPct val="125000"/>
              </a:lnSpc>
            </a:pPr>
            <a:r>
              <a:rPr sz="1400" b="0">
                <a:solidFill>
                  <a:srgbClr val="111B21"/>
                </a:solidFill>
                <a:latin typeface="Segoe UI"/>
              </a:rPr>
              <a:t>A web app cannot stop a phone camera or an OS screenshot.</a:t>
            </a:r>
          </a:p>
          <a:p>
            <a:pPr algn="l">
              <a:lnSpc>
                <a:spcPct val="125000"/>
              </a:lnSpc>
            </a:pPr>
            <a:r>
              <a:rPr sz="1400" b="0">
                <a:solidFill>
                  <a:srgbClr val="111B21"/>
                </a:solidFill>
                <a:latin typeface="Segoe UI"/>
              </a:rPr>
              <a:t>These are deterrents + traceability: the watermark shows who leaked it, and when.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320040"/>
          </a:xfrm>
          <a:prstGeom prst="rect">
            <a:avLst/>
          </a:prstGeom>
          <a:noFill/>
        </p:spPr>
        <p:txBody>
          <a:bodyPr wrap="square" anchor="t" lIns="45720" rIns="45720">
            <a:spAutoFit/>
          </a:bodyPr>
          <a:lstStyle/>
          <a:p>
            <a:pPr algn="l">
              <a:lnSpc>
                <a:spcPct val="110000"/>
              </a:lnSpc>
            </a:pPr>
            <a:r>
              <a:rPr sz="1200" b="1">
                <a:solidFill>
                  <a:srgbClr val="128C7E"/>
                </a:solidFill>
                <a:latin typeface="Segoe UI"/>
              </a:rPr>
              <a:t>FEATURE 5 · MONITORING</a:t>
            </a:r>
          </a:p>
        </p:txBody>
      </p:sp>
      <p:sp>
        <p:nvSpPr>
          <p:cNvPr id="4" name="TextBox 3"/>
          <p:cNvSpPr txBox="1"/>
          <p:nvPr/>
        </p:nvSpPr>
        <p:spPr>
          <a:xfrm>
            <a:off x="548640" y="530352"/>
            <a:ext cx="10972800" cy="731520"/>
          </a:xfrm>
          <a:prstGeom prst="rect">
            <a:avLst/>
          </a:prstGeom>
          <a:noFill/>
        </p:spPr>
        <p:txBody>
          <a:bodyPr wrap="square" anchor="t" lIns="45720" rIns="45720">
            <a:spAutoFit/>
          </a:bodyPr>
          <a:lstStyle/>
          <a:p>
            <a:pPr algn="l">
              <a:lnSpc>
                <a:spcPct val="110000"/>
              </a:lnSpc>
            </a:pPr>
            <a:r>
              <a:rPr sz="3000" b="1">
                <a:solidFill>
                  <a:srgbClr val="075E54"/>
                </a:solidFill>
                <a:latin typeface="Segoe UI"/>
              </a:rPr>
              <a:t>Security Admin dashboard: incidents live</a:t>
            </a:r>
          </a:p>
        </p:txBody>
      </p:sp>
      <p:sp>
        <p:nvSpPr>
          <p:cNvPr id="5" name="TextBox 4"/>
          <p:cNvSpPr txBox="1"/>
          <p:nvPr/>
        </p:nvSpPr>
        <p:spPr>
          <a:xfrm>
            <a:off x="548640" y="6446520"/>
            <a:ext cx="7315200" cy="274320"/>
          </a:xfrm>
          <a:prstGeom prst="rect">
            <a:avLst/>
          </a:prstGeom>
          <a:noFill/>
        </p:spPr>
        <p:txBody>
          <a:bodyPr wrap="square" anchor="t" lIns="45720" rIns="45720">
            <a:spAutoFit/>
          </a:bodyPr>
          <a:lstStyle/>
          <a:p>
            <a:pPr algn="l">
              <a:lnSpc>
                <a:spcPct val="110000"/>
              </a:lnSpc>
            </a:pPr>
            <a:r>
              <a:rPr sz="1000" b="0">
                <a:solidFill>
                  <a:srgbClr val="5B6B75"/>
                </a:solidFill>
                <a:latin typeface="Segoe UI"/>
              </a:rPr>
              <a:t>🛡 ShieldChat · Secure Enterprise Chat with DLP</a:t>
            </a:r>
          </a:p>
        </p:txBody>
      </p:sp>
      <p:sp>
        <p:nvSpPr>
          <p:cNvPr id="6" name="TextBox 5"/>
          <p:cNvSpPr txBox="1"/>
          <p:nvPr/>
        </p:nvSpPr>
        <p:spPr>
          <a:xfrm>
            <a:off x="10881360" y="6446520"/>
            <a:ext cx="914400" cy="274320"/>
          </a:xfrm>
          <a:prstGeom prst="rect">
            <a:avLst/>
          </a:prstGeom>
          <a:noFill/>
        </p:spPr>
        <p:txBody>
          <a:bodyPr wrap="square" anchor="t" lIns="45720" rIns="45720">
            <a:spAutoFit/>
          </a:bodyPr>
          <a:lstStyle/>
          <a:p>
            <a:pPr algn="r">
              <a:lnSpc>
                <a:spcPct val="110000"/>
              </a:lnSpc>
            </a:pPr>
            <a:r>
              <a:rPr sz="1000" b="0">
                <a:solidFill>
                  <a:srgbClr val="5B6B75"/>
                </a:solidFill>
                <a:latin typeface="Segoe UI"/>
              </a:rPr>
              <a:t>13 / 18</a:t>
            </a:r>
          </a:p>
        </p:txBody>
      </p:sp>
      <p:pic>
        <p:nvPicPr>
          <p:cNvPr id="7" name="Picture 6" descr="s6_admin_crop.png"/>
          <p:cNvPicPr>
            <a:picLocks noChangeAspect="1"/>
          </p:cNvPicPr>
          <p:nvPr/>
        </p:nvPicPr>
        <p:blipFill>
          <a:blip r:embed="rId3"/>
          <a:stretch>
            <a:fillRect/>
          </a:stretch>
        </p:blipFill>
        <p:spPr>
          <a:xfrm>
            <a:off x="548640" y="1554480"/>
            <a:ext cx="7498079" cy="3408218"/>
          </a:xfrm>
          <a:prstGeom prst="rect">
            <a:avLst/>
          </a:prstGeom>
          <a:ln w="12700">
            <a:solidFill>
              <a:srgbClr val="C9D1D6"/>
            </a:solidFill>
          </a:ln>
        </p:spPr>
      </p:pic>
      <p:sp>
        <p:nvSpPr>
          <p:cNvPr id="8" name="TextBox 7"/>
          <p:cNvSpPr txBox="1"/>
          <p:nvPr/>
        </p:nvSpPr>
        <p:spPr>
          <a:xfrm>
            <a:off x="8321040" y="1554480"/>
            <a:ext cx="3474720" cy="4572000"/>
          </a:xfrm>
          <a:prstGeom prst="rect">
            <a:avLst/>
          </a:prstGeom>
          <a:noFill/>
        </p:spPr>
        <p:txBody>
          <a:bodyPr wrap="square">
            <a:spAutoFit/>
          </a:bodyPr>
          <a:lstStyle/>
          <a:p>
            <a:pPr>
              <a:lnSpc>
                <a:spcPct val="110000"/>
              </a:lnSpc>
              <a:spcAft>
                <a:spcPts val="1200"/>
              </a:spcAft>
            </a:pPr>
            <a:r>
              <a:rPr sz="1400" b="1">
                <a:solidFill>
                  <a:srgbClr val="128C7E"/>
                </a:solidFill>
                <a:latin typeface="Segoe UI"/>
              </a:rPr>
              <a:t>•  </a:t>
            </a:r>
            <a:r>
              <a:rPr sz="1400" b="1">
                <a:solidFill>
                  <a:srgbClr val="111B21"/>
                </a:solidFill>
                <a:latin typeface="Segoe UI"/>
              </a:rPr>
              <a:t>Live: </a:t>
            </a:r>
            <a:r>
              <a:rPr sz="1400">
                <a:solidFill>
                  <a:srgbClr val="111B21"/>
                </a:solidFill>
                <a:latin typeface="Segoe UI"/>
              </a:rPr>
              <a:t>pushed instantly via Socket.IO (+ 5 s refresh backup)</a:t>
            </a:r>
          </a:p>
          <a:p>
            <a:pPr>
              <a:lnSpc>
                <a:spcPct val="110000"/>
              </a:lnSpc>
              <a:spcAft>
                <a:spcPts val="1200"/>
              </a:spcAft>
            </a:pPr>
            <a:r>
              <a:rPr sz="1400" b="1">
                <a:solidFill>
                  <a:srgbClr val="128C7E"/>
                </a:solidFill>
                <a:latin typeface="Segoe UI"/>
              </a:rPr>
              <a:t>•  </a:t>
            </a:r>
            <a:r>
              <a:rPr sz="1400" b="1">
                <a:solidFill>
                  <a:srgbClr val="111B21"/>
                </a:solidFill>
                <a:latin typeface="Segoe UI"/>
              </a:rPr>
              <a:t>Cards: </a:t>
            </a:r>
            <a:r>
              <a:rPr sz="1400">
                <a:solidFill>
                  <a:srgbClr val="111B21"/>
                </a:solidFill>
                <a:latin typeface="Segoe UI"/>
              </a:rPr>
              <a:t>messages, DLP blocks today, copy attempts, failed logins, locked accounts</a:t>
            </a:r>
          </a:p>
          <a:p>
            <a:pPr>
              <a:lnSpc>
                <a:spcPct val="110000"/>
              </a:lnSpc>
              <a:spcAft>
                <a:spcPts val="1200"/>
              </a:spcAft>
            </a:pPr>
            <a:r>
              <a:rPr sz="1400" b="1">
                <a:solidFill>
                  <a:srgbClr val="128C7E"/>
                </a:solidFill>
                <a:latin typeface="Segoe UI"/>
              </a:rPr>
              <a:t>•  </a:t>
            </a:r>
            <a:r>
              <a:rPr sz="1400" b="1">
                <a:solidFill>
                  <a:srgbClr val="111B21"/>
                </a:solidFill>
                <a:latin typeface="Segoe UI"/>
              </a:rPr>
              <a:t>Masked only: </a:t>
            </a:r>
            <a:r>
              <a:rPr sz="1400">
                <a:solidFill>
                  <a:srgbClr val="111B21"/>
                </a:solidFill>
                <a:latin typeface="Segoe UI"/>
              </a:rPr>
              <a:t>the log never stores raw values</a:t>
            </a:r>
          </a:p>
          <a:p>
            <a:pPr>
              <a:lnSpc>
                <a:spcPct val="110000"/>
              </a:lnSpc>
              <a:spcAft>
                <a:spcPts val="1200"/>
              </a:spcAft>
            </a:pPr>
            <a:r>
              <a:rPr sz="1400" b="1">
                <a:solidFill>
                  <a:srgbClr val="128C7E"/>
                </a:solidFill>
                <a:latin typeface="Segoe UI"/>
              </a:rPr>
              <a:t>•  </a:t>
            </a:r>
            <a:r>
              <a:rPr sz="1400" b="1">
                <a:solidFill>
                  <a:srgbClr val="111B21"/>
                </a:solidFill>
                <a:latin typeface="Segoe UI"/>
              </a:rPr>
              <a:t>Server-side role check: </a:t>
            </a:r>
            <a:r>
              <a:rPr sz="1400">
                <a:solidFill>
                  <a:srgbClr val="111B21"/>
                </a:solidFill>
                <a:latin typeface="Segoe UI"/>
              </a:rPr>
              <a:t>employees get 403 Forbidden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320040"/>
          </a:xfrm>
          <a:prstGeom prst="rect">
            <a:avLst/>
          </a:prstGeom>
          <a:noFill/>
        </p:spPr>
        <p:txBody>
          <a:bodyPr wrap="square" anchor="t" lIns="45720" rIns="45720">
            <a:spAutoFit/>
          </a:bodyPr>
          <a:lstStyle/>
          <a:p>
            <a:pPr algn="l">
              <a:lnSpc>
                <a:spcPct val="110000"/>
              </a:lnSpc>
            </a:pPr>
            <a:r>
              <a:rPr sz="1200" b="1">
                <a:solidFill>
                  <a:srgbClr val="128C7E"/>
                </a:solidFill>
                <a:latin typeface="Segoe UI"/>
              </a:rPr>
              <a:t>QUALITY</a:t>
            </a:r>
          </a:p>
        </p:txBody>
      </p:sp>
      <p:sp>
        <p:nvSpPr>
          <p:cNvPr id="4" name="TextBox 3"/>
          <p:cNvSpPr txBox="1"/>
          <p:nvPr/>
        </p:nvSpPr>
        <p:spPr>
          <a:xfrm>
            <a:off x="548640" y="530352"/>
            <a:ext cx="10972800" cy="731520"/>
          </a:xfrm>
          <a:prstGeom prst="rect">
            <a:avLst/>
          </a:prstGeom>
          <a:noFill/>
        </p:spPr>
        <p:txBody>
          <a:bodyPr wrap="square" anchor="t" lIns="45720" rIns="45720">
            <a:spAutoFit/>
          </a:bodyPr>
          <a:lstStyle/>
          <a:p>
            <a:pPr algn="l">
              <a:lnSpc>
                <a:spcPct val="110000"/>
              </a:lnSpc>
            </a:pPr>
            <a:r>
              <a:rPr sz="3000" b="1">
                <a:solidFill>
                  <a:srgbClr val="075E54"/>
                </a:solidFill>
                <a:latin typeface="Segoe UI"/>
              </a:rPr>
              <a:t>Built securely and tested</a:t>
            </a:r>
          </a:p>
        </p:txBody>
      </p:sp>
      <p:sp>
        <p:nvSpPr>
          <p:cNvPr id="5" name="TextBox 4"/>
          <p:cNvSpPr txBox="1"/>
          <p:nvPr/>
        </p:nvSpPr>
        <p:spPr>
          <a:xfrm>
            <a:off x="548640" y="6446520"/>
            <a:ext cx="7315200" cy="274320"/>
          </a:xfrm>
          <a:prstGeom prst="rect">
            <a:avLst/>
          </a:prstGeom>
          <a:noFill/>
        </p:spPr>
        <p:txBody>
          <a:bodyPr wrap="square" anchor="t" lIns="45720" rIns="45720">
            <a:spAutoFit/>
          </a:bodyPr>
          <a:lstStyle/>
          <a:p>
            <a:pPr algn="l">
              <a:lnSpc>
                <a:spcPct val="110000"/>
              </a:lnSpc>
            </a:pPr>
            <a:r>
              <a:rPr sz="1000" b="0">
                <a:solidFill>
                  <a:srgbClr val="5B6B75"/>
                </a:solidFill>
                <a:latin typeface="Segoe UI"/>
              </a:rPr>
              <a:t>🛡 ShieldChat · Secure Enterprise Chat with DLP</a:t>
            </a:r>
          </a:p>
        </p:txBody>
      </p:sp>
      <p:sp>
        <p:nvSpPr>
          <p:cNvPr id="6" name="TextBox 5"/>
          <p:cNvSpPr txBox="1"/>
          <p:nvPr/>
        </p:nvSpPr>
        <p:spPr>
          <a:xfrm>
            <a:off x="10881360" y="6446520"/>
            <a:ext cx="914400" cy="274320"/>
          </a:xfrm>
          <a:prstGeom prst="rect">
            <a:avLst/>
          </a:prstGeom>
          <a:noFill/>
        </p:spPr>
        <p:txBody>
          <a:bodyPr wrap="square" anchor="t" lIns="45720" rIns="45720">
            <a:spAutoFit/>
          </a:bodyPr>
          <a:lstStyle/>
          <a:p>
            <a:pPr algn="r">
              <a:lnSpc>
                <a:spcPct val="110000"/>
              </a:lnSpc>
            </a:pPr>
            <a:r>
              <a:rPr sz="1000" b="0">
                <a:solidFill>
                  <a:srgbClr val="5B6B75"/>
                </a:solidFill>
                <a:latin typeface="Segoe UI"/>
              </a:rPr>
              <a:t>14 / 18</a:t>
            </a:r>
          </a:p>
        </p:txBody>
      </p:sp>
      <p:sp>
        <p:nvSpPr>
          <p:cNvPr id="7" name="Rounded Rectangle 6"/>
          <p:cNvSpPr/>
          <p:nvPr/>
        </p:nvSpPr>
        <p:spPr>
          <a:xfrm>
            <a:off x="548640" y="1463040"/>
            <a:ext cx="2697480" cy="2194560"/>
          </a:xfrm>
          <a:prstGeom prst="roundRect">
            <a:avLst>
              <a:gd name="adj" fmla="val 8000"/>
            </a:avLst>
          </a:prstGeom>
          <a:solidFill>
            <a:srgbClr val="FFFFFF"/>
          </a:solidFill>
          <a:ln w="15875">
            <a:solidFill>
              <a:srgbClr val="D5D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63040"/>
            <a:ext cx="2697480" cy="82296"/>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64208"/>
            <a:ext cx="2331720" cy="457200"/>
          </a:xfrm>
          <a:prstGeom prst="rect">
            <a:avLst/>
          </a:prstGeom>
          <a:noFill/>
        </p:spPr>
        <p:txBody>
          <a:bodyPr wrap="square" anchor="t" lIns="45720" rIns="45720">
            <a:spAutoFit/>
          </a:bodyPr>
          <a:lstStyle/>
          <a:p>
            <a:pPr algn="l">
              <a:lnSpc>
                <a:spcPct val="110000"/>
              </a:lnSpc>
            </a:pPr>
            <a:r>
              <a:rPr sz="2400" b="0">
                <a:solidFill>
                  <a:srgbClr val="111B21"/>
                </a:solidFill>
                <a:latin typeface="Segoe UI"/>
              </a:rPr>
              <a:t>💉</a:t>
            </a:r>
          </a:p>
        </p:txBody>
      </p:sp>
      <p:sp>
        <p:nvSpPr>
          <p:cNvPr id="10" name="TextBox 9"/>
          <p:cNvSpPr txBox="1"/>
          <p:nvPr/>
        </p:nvSpPr>
        <p:spPr>
          <a:xfrm>
            <a:off x="731520" y="2167128"/>
            <a:ext cx="2331720" cy="457200"/>
          </a:xfrm>
          <a:prstGeom prst="rect">
            <a:avLst/>
          </a:prstGeom>
          <a:noFill/>
        </p:spPr>
        <p:txBody>
          <a:bodyPr wrap="square" anchor="t" lIns="45720" rIns="45720">
            <a:spAutoFit/>
          </a:bodyPr>
          <a:lstStyle/>
          <a:p>
            <a:pPr algn="l">
              <a:lnSpc>
                <a:spcPct val="110000"/>
              </a:lnSpc>
            </a:pPr>
            <a:r>
              <a:rPr sz="1600" b="1">
                <a:solidFill>
                  <a:srgbClr val="128C7E"/>
                </a:solidFill>
                <a:latin typeface="Segoe UI"/>
              </a:rPr>
              <a:t>SQL injection</a:t>
            </a:r>
          </a:p>
        </p:txBody>
      </p:sp>
      <p:sp>
        <p:nvSpPr>
          <p:cNvPr id="11" name="TextBox 10"/>
          <p:cNvSpPr txBox="1"/>
          <p:nvPr/>
        </p:nvSpPr>
        <p:spPr>
          <a:xfrm>
            <a:off x="731520" y="2606040"/>
            <a:ext cx="2331720" cy="987552"/>
          </a:xfrm>
          <a:prstGeom prst="rect">
            <a:avLst/>
          </a:prstGeom>
          <a:noFill/>
        </p:spPr>
        <p:txBody>
          <a:bodyPr wrap="square" anchor="t" lIns="45720" rIns="45720">
            <a:spAutoFit/>
          </a:bodyPr>
          <a:lstStyle/>
          <a:p>
            <a:pPr algn="l">
              <a:lnSpc>
                <a:spcPct val="115000"/>
              </a:lnSpc>
            </a:pPr>
            <a:r>
              <a:rPr sz="1300" b="0">
                <a:solidFill>
                  <a:srgbClr val="111B21"/>
                </a:solidFill>
                <a:latin typeface="Segoe UI"/>
              </a:rPr>
              <a:t>Parameterised queries (?) everywhere. Input is data, never SQL.</a:t>
            </a:r>
          </a:p>
        </p:txBody>
      </p:sp>
      <p:sp>
        <p:nvSpPr>
          <p:cNvPr id="12" name="Rounded Rectangle 11"/>
          <p:cNvSpPr/>
          <p:nvPr/>
        </p:nvSpPr>
        <p:spPr>
          <a:xfrm>
            <a:off x="3429000" y="1463040"/>
            <a:ext cx="2697480" cy="2194560"/>
          </a:xfrm>
          <a:prstGeom prst="roundRect">
            <a:avLst>
              <a:gd name="adj" fmla="val 8000"/>
            </a:avLst>
          </a:prstGeom>
          <a:solidFill>
            <a:srgbClr val="FFFFFF"/>
          </a:solidFill>
          <a:ln w="15875">
            <a:solidFill>
              <a:srgbClr val="D5D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29000" y="1463040"/>
            <a:ext cx="2697480" cy="82296"/>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1664208"/>
            <a:ext cx="2331720" cy="457200"/>
          </a:xfrm>
          <a:prstGeom prst="rect">
            <a:avLst/>
          </a:prstGeom>
          <a:noFill/>
        </p:spPr>
        <p:txBody>
          <a:bodyPr wrap="square" anchor="t" lIns="45720" rIns="45720">
            <a:spAutoFit/>
          </a:bodyPr>
          <a:lstStyle/>
          <a:p>
            <a:pPr algn="l">
              <a:lnSpc>
                <a:spcPct val="110000"/>
              </a:lnSpc>
            </a:pPr>
            <a:r>
              <a:rPr sz="2400" b="0">
                <a:solidFill>
                  <a:srgbClr val="111B21"/>
                </a:solidFill>
                <a:latin typeface="Segoe UI"/>
              </a:rPr>
              <a:t>🧪</a:t>
            </a:r>
          </a:p>
        </p:txBody>
      </p:sp>
      <p:sp>
        <p:nvSpPr>
          <p:cNvPr id="15" name="TextBox 14"/>
          <p:cNvSpPr txBox="1"/>
          <p:nvPr/>
        </p:nvSpPr>
        <p:spPr>
          <a:xfrm>
            <a:off x="3611880" y="2167128"/>
            <a:ext cx="2331720" cy="457200"/>
          </a:xfrm>
          <a:prstGeom prst="rect">
            <a:avLst/>
          </a:prstGeom>
          <a:noFill/>
        </p:spPr>
        <p:txBody>
          <a:bodyPr wrap="square" anchor="t" lIns="45720" rIns="45720">
            <a:spAutoFit/>
          </a:bodyPr>
          <a:lstStyle/>
          <a:p>
            <a:pPr algn="l">
              <a:lnSpc>
                <a:spcPct val="110000"/>
              </a:lnSpc>
            </a:pPr>
            <a:r>
              <a:rPr sz="1600" b="1">
                <a:solidFill>
                  <a:srgbClr val="D93025"/>
                </a:solidFill>
                <a:latin typeface="Segoe UI"/>
              </a:rPr>
              <a:t>XSS</a:t>
            </a:r>
          </a:p>
        </p:txBody>
      </p:sp>
      <p:sp>
        <p:nvSpPr>
          <p:cNvPr id="16" name="TextBox 15"/>
          <p:cNvSpPr txBox="1"/>
          <p:nvPr/>
        </p:nvSpPr>
        <p:spPr>
          <a:xfrm>
            <a:off x="3611880" y="2606040"/>
            <a:ext cx="2331720" cy="987552"/>
          </a:xfrm>
          <a:prstGeom prst="rect">
            <a:avLst/>
          </a:prstGeom>
          <a:noFill/>
        </p:spPr>
        <p:txBody>
          <a:bodyPr wrap="square" anchor="t" lIns="45720" rIns="45720">
            <a:spAutoFit/>
          </a:bodyPr>
          <a:lstStyle/>
          <a:p>
            <a:pPr algn="l">
              <a:lnSpc>
                <a:spcPct val="115000"/>
              </a:lnSpc>
            </a:pPr>
            <a:r>
              <a:rPr sz="1300" b="0">
                <a:solidFill>
                  <a:srgbClr val="111B21"/>
                </a:solidFill>
                <a:latin typeface="Segoe UI"/>
              </a:rPr>
              <a:t>textContent, never innerHTML. &lt;script&gt; shows as plain text.</a:t>
            </a:r>
          </a:p>
        </p:txBody>
      </p:sp>
      <p:sp>
        <p:nvSpPr>
          <p:cNvPr id="17" name="Rounded Rectangle 16"/>
          <p:cNvSpPr/>
          <p:nvPr/>
        </p:nvSpPr>
        <p:spPr>
          <a:xfrm>
            <a:off x="548640" y="3840480"/>
            <a:ext cx="2697480" cy="2194560"/>
          </a:xfrm>
          <a:prstGeom prst="roundRect">
            <a:avLst>
              <a:gd name="adj" fmla="val 8000"/>
            </a:avLst>
          </a:prstGeom>
          <a:solidFill>
            <a:srgbClr val="FFFFFF"/>
          </a:solidFill>
          <a:ln w="15875">
            <a:solidFill>
              <a:srgbClr val="D5D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840480"/>
            <a:ext cx="2697480" cy="82296"/>
          </a:xfrm>
          <a:prstGeom prst="rect">
            <a:avLst/>
          </a:prstGeom>
          <a:solidFill>
            <a:srgbClr val="1A5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041648"/>
            <a:ext cx="2331720" cy="457200"/>
          </a:xfrm>
          <a:prstGeom prst="rect">
            <a:avLst/>
          </a:prstGeom>
          <a:noFill/>
        </p:spPr>
        <p:txBody>
          <a:bodyPr wrap="square" anchor="t" lIns="45720" rIns="45720">
            <a:spAutoFit/>
          </a:bodyPr>
          <a:lstStyle/>
          <a:p>
            <a:pPr algn="l">
              <a:lnSpc>
                <a:spcPct val="110000"/>
              </a:lnSpc>
            </a:pPr>
            <a:r>
              <a:rPr sz="2400" b="0">
                <a:solidFill>
                  <a:srgbClr val="111B21"/>
                </a:solidFill>
                <a:latin typeface="Segoe UI"/>
              </a:rPr>
              <a:t>🖥</a:t>
            </a:r>
          </a:p>
        </p:txBody>
      </p:sp>
      <p:sp>
        <p:nvSpPr>
          <p:cNvPr id="20" name="TextBox 19"/>
          <p:cNvSpPr txBox="1"/>
          <p:nvPr/>
        </p:nvSpPr>
        <p:spPr>
          <a:xfrm>
            <a:off x="731520" y="4544568"/>
            <a:ext cx="2331720" cy="457200"/>
          </a:xfrm>
          <a:prstGeom prst="rect">
            <a:avLst/>
          </a:prstGeom>
          <a:noFill/>
        </p:spPr>
        <p:txBody>
          <a:bodyPr wrap="square" anchor="t" lIns="45720" rIns="45720">
            <a:spAutoFit/>
          </a:bodyPr>
          <a:lstStyle/>
          <a:p>
            <a:pPr algn="l">
              <a:lnSpc>
                <a:spcPct val="110000"/>
              </a:lnSpc>
            </a:pPr>
            <a:r>
              <a:rPr sz="1600" b="1">
                <a:solidFill>
                  <a:srgbClr val="1A56C4"/>
                </a:solidFill>
                <a:latin typeface="Segoe UI"/>
              </a:rPr>
              <a:t>Server-side checks</a:t>
            </a:r>
          </a:p>
        </p:txBody>
      </p:sp>
      <p:sp>
        <p:nvSpPr>
          <p:cNvPr id="21" name="TextBox 20"/>
          <p:cNvSpPr txBox="1"/>
          <p:nvPr/>
        </p:nvSpPr>
        <p:spPr>
          <a:xfrm>
            <a:off x="731520" y="4983480"/>
            <a:ext cx="2331720" cy="987552"/>
          </a:xfrm>
          <a:prstGeom prst="rect">
            <a:avLst/>
          </a:prstGeom>
          <a:noFill/>
        </p:spPr>
        <p:txBody>
          <a:bodyPr wrap="square" anchor="t" lIns="45720" rIns="45720">
            <a:spAutoFit/>
          </a:bodyPr>
          <a:lstStyle/>
          <a:p>
            <a:pPr algn="l">
              <a:lnSpc>
                <a:spcPct val="115000"/>
              </a:lnSpc>
            </a:pPr>
            <a:r>
              <a:rPr sz="1300" b="0">
                <a:solidFill>
                  <a:srgbClr val="111B21"/>
                </a:solidFill>
                <a:latin typeface="Segoe UI"/>
              </a:rPr>
              <a:t>DLP, roles and identity enforced on the server, not in JavaScript.</a:t>
            </a:r>
          </a:p>
        </p:txBody>
      </p:sp>
      <p:sp>
        <p:nvSpPr>
          <p:cNvPr id="22" name="Rounded Rectangle 21"/>
          <p:cNvSpPr/>
          <p:nvPr/>
        </p:nvSpPr>
        <p:spPr>
          <a:xfrm>
            <a:off x="3429000" y="3840480"/>
            <a:ext cx="2697480" cy="2194560"/>
          </a:xfrm>
          <a:prstGeom prst="roundRect">
            <a:avLst>
              <a:gd name="adj" fmla="val 8000"/>
            </a:avLst>
          </a:prstGeom>
          <a:solidFill>
            <a:srgbClr val="FFFFFF"/>
          </a:solidFill>
          <a:ln w="15875">
            <a:solidFill>
              <a:srgbClr val="D5D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29000" y="3840480"/>
            <a:ext cx="2697480" cy="82296"/>
          </a:xfrm>
          <a:prstGeom prst="rect">
            <a:avLst/>
          </a:prstGeom>
          <a:solidFill>
            <a:srgbClr val="8A6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11880" y="4041648"/>
            <a:ext cx="2331720" cy="457200"/>
          </a:xfrm>
          <a:prstGeom prst="rect">
            <a:avLst/>
          </a:prstGeom>
          <a:noFill/>
        </p:spPr>
        <p:txBody>
          <a:bodyPr wrap="square" anchor="t" lIns="45720" rIns="45720">
            <a:spAutoFit/>
          </a:bodyPr>
          <a:lstStyle/>
          <a:p>
            <a:pPr algn="l">
              <a:lnSpc>
                <a:spcPct val="110000"/>
              </a:lnSpc>
            </a:pPr>
            <a:r>
              <a:rPr sz="2400" b="0">
                <a:solidFill>
                  <a:srgbClr val="111B21"/>
                </a:solidFill>
                <a:latin typeface="Segoe UI"/>
              </a:rPr>
              <a:t>🔑</a:t>
            </a:r>
          </a:p>
        </p:txBody>
      </p:sp>
      <p:sp>
        <p:nvSpPr>
          <p:cNvPr id="25" name="TextBox 24"/>
          <p:cNvSpPr txBox="1"/>
          <p:nvPr/>
        </p:nvSpPr>
        <p:spPr>
          <a:xfrm>
            <a:off x="3611880" y="4544568"/>
            <a:ext cx="2331720" cy="457200"/>
          </a:xfrm>
          <a:prstGeom prst="rect">
            <a:avLst/>
          </a:prstGeom>
          <a:noFill/>
        </p:spPr>
        <p:txBody>
          <a:bodyPr wrap="square" anchor="t" lIns="45720" rIns="45720">
            <a:spAutoFit/>
          </a:bodyPr>
          <a:lstStyle/>
          <a:p>
            <a:pPr algn="l">
              <a:lnSpc>
                <a:spcPct val="110000"/>
              </a:lnSpc>
            </a:pPr>
            <a:r>
              <a:rPr sz="1600" b="1">
                <a:solidFill>
                  <a:srgbClr val="8A6100"/>
                </a:solidFill>
                <a:latin typeface="Segoe UI"/>
              </a:rPr>
              <a:t>Secrets</a:t>
            </a:r>
          </a:p>
        </p:txBody>
      </p:sp>
      <p:sp>
        <p:nvSpPr>
          <p:cNvPr id="26" name="TextBox 25"/>
          <p:cNvSpPr txBox="1"/>
          <p:nvPr/>
        </p:nvSpPr>
        <p:spPr>
          <a:xfrm>
            <a:off x="3611880" y="4983480"/>
            <a:ext cx="2331720" cy="987552"/>
          </a:xfrm>
          <a:prstGeom prst="rect">
            <a:avLst/>
          </a:prstGeom>
          <a:noFill/>
        </p:spPr>
        <p:txBody>
          <a:bodyPr wrap="square" anchor="t" lIns="45720" rIns="45720">
            <a:spAutoFit/>
          </a:bodyPr>
          <a:lstStyle/>
          <a:p>
            <a:pPr algn="l">
              <a:lnSpc>
                <a:spcPct val="115000"/>
              </a:lnSpc>
            </a:pPr>
            <a:r>
              <a:rPr sz="1300" b="0">
                <a:solidFill>
                  <a:srgbClr val="111B21"/>
                </a:solidFill>
                <a:latin typeface="Segoe UI"/>
              </a:rPr>
              <a:t>API key and SECRET_KEY in .env, excluded by .gitignore.</a:t>
            </a:r>
          </a:p>
        </p:txBody>
      </p:sp>
      <p:sp>
        <p:nvSpPr>
          <p:cNvPr id="27" name="Rounded Rectangle 26"/>
          <p:cNvSpPr/>
          <p:nvPr/>
        </p:nvSpPr>
        <p:spPr>
          <a:xfrm>
            <a:off x="6492240" y="1463040"/>
            <a:ext cx="5257800" cy="4572000"/>
          </a:xfrm>
          <a:prstGeom prst="roundRect">
            <a:avLst>
              <a:gd name="adj" fmla="val 8000"/>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66560" y="1600200"/>
            <a:ext cx="4754880" cy="914400"/>
          </a:xfrm>
          <a:prstGeom prst="rect">
            <a:avLst/>
          </a:prstGeom>
          <a:noFill/>
        </p:spPr>
        <p:txBody>
          <a:bodyPr wrap="square" anchor="t" lIns="45720" rIns="45720">
            <a:spAutoFit/>
          </a:bodyPr>
          <a:lstStyle/>
          <a:p>
            <a:pPr algn="l">
              <a:lnSpc>
                <a:spcPct val="110000"/>
              </a:lnSpc>
            </a:pPr>
            <a:r>
              <a:rPr sz="5400" b="1">
                <a:solidFill>
                  <a:srgbClr val="FFFFFF"/>
                </a:solidFill>
                <a:latin typeface="Segoe UI"/>
              </a:rPr>
              <a:t>28 / 28</a:t>
            </a:r>
          </a:p>
        </p:txBody>
      </p:sp>
      <p:sp>
        <p:nvSpPr>
          <p:cNvPr id="29" name="TextBox 28"/>
          <p:cNvSpPr txBox="1"/>
          <p:nvPr/>
        </p:nvSpPr>
        <p:spPr>
          <a:xfrm>
            <a:off x="6766560" y="2514600"/>
            <a:ext cx="4754880" cy="457200"/>
          </a:xfrm>
          <a:prstGeom prst="rect">
            <a:avLst/>
          </a:prstGeom>
          <a:noFill/>
        </p:spPr>
        <p:txBody>
          <a:bodyPr wrap="square" anchor="t" lIns="45720" rIns="45720">
            <a:spAutoFit/>
          </a:bodyPr>
          <a:lstStyle/>
          <a:p>
            <a:pPr algn="l">
              <a:lnSpc>
                <a:spcPct val="110000"/>
              </a:lnSpc>
            </a:pPr>
            <a:r>
              <a:rPr sz="1700" b="0">
                <a:solidFill>
                  <a:srgbClr val="C8F4EA"/>
                </a:solidFill>
                <a:latin typeface="Segoe UI"/>
              </a:rPr>
              <a:t>automated pytest tests passing</a:t>
            </a:r>
          </a:p>
        </p:txBody>
      </p:sp>
      <p:sp>
        <p:nvSpPr>
          <p:cNvPr id="30" name="TextBox 29"/>
          <p:cNvSpPr txBox="1"/>
          <p:nvPr/>
        </p:nvSpPr>
        <p:spPr>
          <a:xfrm>
            <a:off x="6766560" y="3108960"/>
            <a:ext cx="4846320" cy="2926080"/>
          </a:xfrm>
          <a:prstGeom prst="rect">
            <a:avLst/>
          </a:prstGeom>
          <a:noFill/>
        </p:spPr>
        <p:txBody>
          <a:bodyPr wrap="square">
            <a:spAutoFit/>
          </a:bodyPr>
          <a:lstStyle/>
          <a:p>
            <a:pPr>
              <a:lnSpc>
                <a:spcPct val="110000"/>
              </a:lnSpc>
              <a:spcAft>
                <a:spcPts val="300"/>
              </a:spcAft>
            </a:pPr>
            <a:r>
              <a:rPr sz="1300" b="1">
                <a:solidFill>
                  <a:srgbClr val="128C7E"/>
                </a:solidFill>
                <a:latin typeface="Segoe UI"/>
              </a:rPr>
              <a:t>•  </a:t>
            </a:r>
            <a:r>
              <a:rPr sz="1300">
                <a:solidFill>
                  <a:srgbClr val="FFFFFF"/>
                </a:solidFill>
                <a:latin typeface="Segoe UI"/>
              </a:rPr>
              <a:t>Visa sample detected; Luhn valid/invalid</a:t>
            </a:r>
          </a:p>
          <a:p>
            <a:pPr>
              <a:lnSpc>
                <a:spcPct val="110000"/>
              </a:lnSpc>
              <a:spcAft>
                <a:spcPts val="300"/>
              </a:spcAft>
            </a:pPr>
            <a:r>
              <a:rPr sz="1300" b="1">
                <a:solidFill>
                  <a:srgbClr val="128C7E"/>
                </a:solidFill>
                <a:latin typeface="Segoe UI"/>
              </a:rPr>
              <a:t>•  </a:t>
            </a:r>
            <a:r>
              <a:rPr sz="1300">
                <a:solidFill>
                  <a:srgbClr val="FFFFFF"/>
                </a:solidFill>
                <a:latin typeface="Segoe UI"/>
              </a:rPr>
              <a:t>Fake Aadhaar generated with Verhoeff</a:t>
            </a:r>
          </a:p>
          <a:p>
            <a:pPr>
              <a:lnSpc>
                <a:spcPct val="110000"/>
              </a:lnSpc>
              <a:spcAft>
                <a:spcPts val="300"/>
              </a:spcAft>
            </a:pPr>
            <a:r>
              <a:rPr sz="1300" b="1">
                <a:solidFill>
                  <a:srgbClr val="128C7E"/>
                </a:solidFill>
                <a:latin typeface="Segoe UI"/>
              </a:rPr>
              <a:t>•  </a:t>
            </a:r>
            <a:r>
              <a:rPr sz="1300">
                <a:solidFill>
                  <a:srgbClr val="FFFFFF"/>
                </a:solidFill>
                <a:latin typeface="Segoe UI"/>
              </a:rPr>
              <a:t>PAN, IFSC, bank account with/without context</a:t>
            </a:r>
          </a:p>
          <a:p>
            <a:pPr>
              <a:lnSpc>
                <a:spcPct val="110000"/>
              </a:lnSpc>
              <a:spcAft>
                <a:spcPts val="300"/>
              </a:spcAft>
            </a:pPr>
            <a:r>
              <a:rPr sz="1300" b="1">
                <a:solidFill>
                  <a:srgbClr val="128C7E"/>
                </a:solidFill>
                <a:latin typeface="Segoe UI"/>
              </a:rPr>
              <a:t>•  </a:t>
            </a:r>
            <a:r>
              <a:rPr sz="1300">
                <a:solidFill>
                  <a:srgbClr val="FFFFFF"/>
                </a:solidFill>
                <a:latin typeface="Segoe UI"/>
              </a:rPr>
              <a:t>Phone number NOT flagged</a:t>
            </a:r>
          </a:p>
          <a:p>
            <a:pPr>
              <a:lnSpc>
                <a:spcPct val="110000"/>
              </a:lnSpc>
              <a:spcAft>
                <a:spcPts val="300"/>
              </a:spcAft>
            </a:pPr>
            <a:r>
              <a:rPr sz="1300" b="1">
                <a:solidFill>
                  <a:srgbClr val="128C7E"/>
                </a:solidFill>
                <a:latin typeface="Segoe UI"/>
              </a:rPr>
              <a:t>•  </a:t>
            </a:r>
            <a:r>
              <a:rPr sz="1300">
                <a:solidFill>
                  <a:srgbClr val="FFFFFF"/>
                </a:solidFill>
                <a:latin typeface="Segoe UI"/>
              </a:rPr>
              <a:t>Raw card never reaches the AI</a:t>
            </a:r>
          </a:p>
          <a:p>
            <a:pPr>
              <a:lnSpc>
                <a:spcPct val="110000"/>
              </a:lnSpc>
              <a:spcAft>
                <a:spcPts val="300"/>
              </a:spcAft>
            </a:pPr>
            <a:r>
              <a:rPr sz="1300" b="1">
                <a:solidFill>
                  <a:srgbClr val="128C7E"/>
                </a:solidFill>
                <a:latin typeface="Segoe UI"/>
              </a:rPr>
              <a:t>•  </a:t>
            </a:r>
            <a:r>
              <a:rPr sz="1300">
                <a:solidFill>
                  <a:srgbClr val="FFFFFF"/>
                </a:solidFill>
                <a:latin typeface="Segoe UI"/>
              </a:rPr>
              <a:t>Gemini timeout falls back safely</a:t>
            </a:r>
          </a:p>
          <a:p>
            <a:pPr>
              <a:lnSpc>
                <a:spcPct val="110000"/>
              </a:lnSpc>
              <a:spcAft>
                <a:spcPts val="300"/>
              </a:spcAft>
            </a:pPr>
            <a:r>
              <a:rPr sz="1300" b="1">
                <a:solidFill>
                  <a:srgbClr val="128C7E"/>
                </a:solidFill>
                <a:latin typeface="Segoe UI"/>
              </a:rPr>
              <a:t>•  </a:t>
            </a:r>
            <a:r>
              <a:rPr sz="1300">
                <a:solidFill>
                  <a:srgbClr val="FFFFFF"/>
                </a:solidFill>
                <a:latin typeface="Segoe UI"/>
              </a:rPr>
              <a:t>Non-admin gets 403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320040"/>
          </a:xfrm>
          <a:prstGeom prst="rect">
            <a:avLst/>
          </a:prstGeom>
          <a:noFill/>
        </p:spPr>
        <p:txBody>
          <a:bodyPr wrap="square" anchor="t" lIns="45720" rIns="45720">
            <a:spAutoFit/>
          </a:bodyPr>
          <a:lstStyle/>
          <a:p>
            <a:pPr algn="l">
              <a:lnSpc>
                <a:spcPct val="110000"/>
              </a:lnSpc>
            </a:pPr>
            <a:r>
              <a:rPr sz="1200" b="1">
                <a:solidFill>
                  <a:srgbClr val="128C7E"/>
                </a:solidFill>
                <a:latin typeface="Segoe UI"/>
              </a:rPr>
              <a:t>EVALUATION</a:t>
            </a:r>
          </a:p>
        </p:txBody>
      </p:sp>
      <p:sp>
        <p:nvSpPr>
          <p:cNvPr id="4" name="TextBox 3"/>
          <p:cNvSpPr txBox="1"/>
          <p:nvPr/>
        </p:nvSpPr>
        <p:spPr>
          <a:xfrm>
            <a:off x="548640" y="530352"/>
            <a:ext cx="10972800" cy="731520"/>
          </a:xfrm>
          <a:prstGeom prst="rect">
            <a:avLst/>
          </a:prstGeom>
          <a:noFill/>
        </p:spPr>
        <p:txBody>
          <a:bodyPr wrap="square" anchor="t" lIns="45720" rIns="45720">
            <a:spAutoFit/>
          </a:bodyPr>
          <a:lstStyle/>
          <a:p>
            <a:pPr algn="l">
              <a:lnSpc>
                <a:spcPct val="110000"/>
              </a:lnSpc>
            </a:pPr>
            <a:r>
              <a:rPr sz="3000" b="1">
                <a:solidFill>
                  <a:srgbClr val="075E54"/>
                </a:solidFill>
                <a:latin typeface="Segoe UI"/>
              </a:rPr>
              <a:t>Advantages and limitations</a:t>
            </a:r>
          </a:p>
        </p:txBody>
      </p:sp>
      <p:sp>
        <p:nvSpPr>
          <p:cNvPr id="5" name="TextBox 4"/>
          <p:cNvSpPr txBox="1"/>
          <p:nvPr/>
        </p:nvSpPr>
        <p:spPr>
          <a:xfrm>
            <a:off x="548640" y="6446520"/>
            <a:ext cx="7315200" cy="274320"/>
          </a:xfrm>
          <a:prstGeom prst="rect">
            <a:avLst/>
          </a:prstGeom>
          <a:noFill/>
        </p:spPr>
        <p:txBody>
          <a:bodyPr wrap="square" anchor="t" lIns="45720" rIns="45720">
            <a:spAutoFit/>
          </a:bodyPr>
          <a:lstStyle/>
          <a:p>
            <a:pPr algn="l">
              <a:lnSpc>
                <a:spcPct val="110000"/>
              </a:lnSpc>
            </a:pPr>
            <a:r>
              <a:rPr sz="1000" b="0">
                <a:solidFill>
                  <a:srgbClr val="5B6B75"/>
                </a:solidFill>
                <a:latin typeface="Segoe UI"/>
              </a:rPr>
              <a:t>🛡 ShieldChat · Secure Enterprise Chat with DLP</a:t>
            </a:r>
          </a:p>
        </p:txBody>
      </p:sp>
      <p:sp>
        <p:nvSpPr>
          <p:cNvPr id="6" name="TextBox 5"/>
          <p:cNvSpPr txBox="1"/>
          <p:nvPr/>
        </p:nvSpPr>
        <p:spPr>
          <a:xfrm>
            <a:off x="10881360" y="6446520"/>
            <a:ext cx="914400" cy="274320"/>
          </a:xfrm>
          <a:prstGeom prst="rect">
            <a:avLst/>
          </a:prstGeom>
          <a:noFill/>
        </p:spPr>
        <p:txBody>
          <a:bodyPr wrap="square" anchor="t" lIns="45720" rIns="45720">
            <a:spAutoFit/>
          </a:bodyPr>
          <a:lstStyle/>
          <a:p>
            <a:pPr algn="r">
              <a:lnSpc>
                <a:spcPct val="110000"/>
              </a:lnSpc>
            </a:pPr>
            <a:r>
              <a:rPr sz="1000" b="0">
                <a:solidFill>
                  <a:srgbClr val="5B6B75"/>
                </a:solidFill>
                <a:latin typeface="Segoe UI"/>
              </a:rPr>
              <a:t>15 / 18</a:t>
            </a:r>
          </a:p>
        </p:txBody>
      </p:sp>
      <p:sp>
        <p:nvSpPr>
          <p:cNvPr id="7" name="Rounded Rectangle 6"/>
          <p:cNvSpPr/>
          <p:nvPr/>
        </p:nvSpPr>
        <p:spPr>
          <a:xfrm>
            <a:off x="548640" y="1463040"/>
            <a:ext cx="5440680" cy="3657600"/>
          </a:xfrm>
          <a:prstGeom prst="roundRect">
            <a:avLst>
              <a:gd name="adj" fmla="val 8000"/>
            </a:avLst>
          </a:prstGeom>
          <a:solidFill>
            <a:srgbClr val="FFFFFF"/>
          </a:solidFill>
          <a:ln w="15875">
            <a:solidFill>
              <a:srgbClr val="D5D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63040"/>
            <a:ext cx="5440680" cy="82296"/>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64208"/>
            <a:ext cx="5074920" cy="457200"/>
          </a:xfrm>
          <a:prstGeom prst="rect">
            <a:avLst/>
          </a:prstGeom>
          <a:noFill/>
        </p:spPr>
        <p:txBody>
          <a:bodyPr wrap="square" anchor="t" lIns="45720" rIns="45720">
            <a:spAutoFit/>
          </a:bodyPr>
          <a:lstStyle/>
          <a:p>
            <a:pPr algn="l">
              <a:lnSpc>
                <a:spcPct val="110000"/>
              </a:lnSpc>
            </a:pPr>
            <a:r>
              <a:rPr sz="2000" b="1">
                <a:solidFill>
                  <a:srgbClr val="128C7E"/>
                </a:solidFill>
                <a:latin typeface="Segoe UI"/>
              </a:rPr>
              <a:t>✅  Advantages</a:t>
            </a:r>
          </a:p>
        </p:txBody>
      </p:sp>
      <p:sp>
        <p:nvSpPr>
          <p:cNvPr id="10" name="TextBox 9"/>
          <p:cNvSpPr txBox="1"/>
          <p:nvPr/>
        </p:nvSpPr>
        <p:spPr>
          <a:xfrm>
            <a:off x="731520" y="2103120"/>
            <a:ext cx="5074920" cy="2953512"/>
          </a:xfrm>
          <a:prstGeom prst="rect">
            <a:avLst/>
          </a:prstGeom>
          <a:noFill/>
        </p:spPr>
        <p:txBody>
          <a:bodyPr wrap="square" anchor="t" lIns="45720" rIns="45720">
            <a:spAutoFit/>
          </a:bodyPr>
          <a:lstStyle/>
          <a:p>
            <a:pPr algn="l">
              <a:lnSpc>
                <a:spcPct val="115000"/>
              </a:lnSpc>
            </a:pPr>
            <a:r>
              <a:rPr sz="1300" b="0">
                <a:solidFill>
                  <a:srgbClr val="111B21"/>
                </a:solidFill>
                <a:latin typeface="Segoe UI"/>
              </a:rPr>
              <a:t/>
            </a:r>
          </a:p>
        </p:txBody>
      </p:sp>
      <p:sp>
        <p:nvSpPr>
          <p:cNvPr id="11" name="TextBox 10"/>
          <p:cNvSpPr txBox="1"/>
          <p:nvPr/>
        </p:nvSpPr>
        <p:spPr>
          <a:xfrm>
            <a:off x="777240" y="2194560"/>
            <a:ext cx="5029200" cy="3840480"/>
          </a:xfrm>
          <a:prstGeom prst="rect">
            <a:avLst/>
          </a:prstGeom>
          <a:noFill/>
        </p:spPr>
        <p:txBody>
          <a:bodyPr wrap="square">
            <a:spAutoFit/>
          </a:bodyPr>
          <a:lstStyle/>
          <a:p>
            <a:pPr>
              <a:lnSpc>
                <a:spcPct val="110000"/>
              </a:lnSpc>
              <a:spcAft>
                <a:spcPts val="1400"/>
              </a:spcAft>
            </a:pPr>
            <a:r>
              <a:rPr sz="1500" b="1">
                <a:solidFill>
                  <a:srgbClr val="128C7E"/>
                </a:solidFill>
                <a:latin typeface="Segoe UI"/>
              </a:rPr>
              <a:t>•  </a:t>
            </a:r>
            <a:r>
              <a:rPr sz="1500" b="1">
                <a:solidFill>
                  <a:srgbClr val="111B21"/>
                </a:solidFill>
                <a:latin typeface="Segoe UI"/>
              </a:rPr>
              <a:t>Privacy-first DLP: </a:t>
            </a:r>
            <a:r>
              <a:rPr sz="1500">
                <a:solidFill>
                  <a:srgbClr val="111B21"/>
                </a:solidFill>
                <a:latin typeface="Segoe UI"/>
              </a:rPr>
              <a:t>sensitive data blocked locally, never sent to the AI; checksums keep false alarms low.</a:t>
            </a:r>
          </a:p>
          <a:p>
            <a:pPr>
              <a:lnSpc>
                <a:spcPct val="110000"/>
              </a:lnSpc>
              <a:spcAft>
                <a:spcPts val="1400"/>
              </a:spcAft>
            </a:pPr>
            <a:r>
              <a:rPr sz="1500" b="1">
                <a:solidFill>
                  <a:srgbClr val="128C7E"/>
                </a:solidFill>
                <a:latin typeface="Segoe UI"/>
              </a:rPr>
              <a:t>•  </a:t>
            </a:r>
            <a:r>
              <a:rPr sz="1500" b="1">
                <a:solidFill>
                  <a:srgbClr val="111B21"/>
                </a:solidFill>
                <a:latin typeface="Segoe UI"/>
              </a:rPr>
              <a:t>Works offline: </a:t>
            </a:r>
            <a:r>
              <a:rPr sz="1500">
                <a:solidFill>
                  <a:srgbClr val="111B21"/>
                </a:solidFill>
                <a:latin typeface="Segoe UI"/>
              </a:rPr>
              <a:t>chat, login security, Layer 1 DLP and monitoring need no internet.</a:t>
            </a:r>
          </a:p>
          <a:p>
            <a:pPr>
              <a:lnSpc>
                <a:spcPct val="110000"/>
              </a:lnSpc>
              <a:spcAft>
                <a:spcPts val="1400"/>
              </a:spcAft>
            </a:pPr>
            <a:r>
              <a:rPr sz="1500" b="1">
                <a:solidFill>
                  <a:srgbClr val="128C7E"/>
                </a:solidFill>
                <a:latin typeface="Segoe UI"/>
              </a:rPr>
              <a:t>•  </a:t>
            </a:r>
            <a:r>
              <a:rPr sz="1500" b="1">
                <a:solidFill>
                  <a:srgbClr val="111B21"/>
                </a:solidFill>
                <a:latin typeface="Segoe UI"/>
              </a:rPr>
              <a:t>Accountability: </a:t>
            </a:r>
            <a:r>
              <a:rPr sz="1500">
                <a:solidFill>
                  <a:srgbClr val="111B21"/>
                </a:solidFill>
                <a:latin typeface="Segoe UI"/>
              </a:rPr>
              <a:t>watermarks, masked logs and a live dashboard make leaks traceable.</a:t>
            </a:r>
          </a:p>
        </p:txBody>
      </p:sp>
      <p:sp>
        <p:nvSpPr>
          <p:cNvPr id="12" name="Rounded Rectangle 11"/>
          <p:cNvSpPr/>
          <p:nvPr/>
        </p:nvSpPr>
        <p:spPr>
          <a:xfrm>
            <a:off x="6263640" y="1463040"/>
            <a:ext cx="5440680" cy="3657600"/>
          </a:xfrm>
          <a:prstGeom prst="roundRect">
            <a:avLst>
              <a:gd name="adj" fmla="val 8000"/>
            </a:avLst>
          </a:prstGeom>
          <a:solidFill>
            <a:srgbClr val="FFFFFF"/>
          </a:solidFill>
          <a:ln w="15875">
            <a:solidFill>
              <a:srgbClr val="D5D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463040"/>
            <a:ext cx="5440680" cy="82296"/>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664208"/>
            <a:ext cx="5074920" cy="457200"/>
          </a:xfrm>
          <a:prstGeom prst="rect">
            <a:avLst/>
          </a:prstGeom>
          <a:noFill/>
        </p:spPr>
        <p:txBody>
          <a:bodyPr wrap="square" anchor="t" lIns="45720" rIns="45720">
            <a:spAutoFit/>
          </a:bodyPr>
          <a:lstStyle/>
          <a:p>
            <a:pPr algn="l">
              <a:lnSpc>
                <a:spcPct val="110000"/>
              </a:lnSpc>
            </a:pPr>
            <a:r>
              <a:rPr sz="2000" b="1">
                <a:solidFill>
                  <a:srgbClr val="D93025"/>
                </a:solidFill>
                <a:latin typeface="Segoe UI"/>
              </a:rPr>
              <a:t>⚠  Limitations</a:t>
            </a:r>
          </a:p>
        </p:txBody>
      </p:sp>
      <p:sp>
        <p:nvSpPr>
          <p:cNvPr id="15" name="TextBox 14"/>
          <p:cNvSpPr txBox="1"/>
          <p:nvPr/>
        </p:nvSpPr>
        <p:spPr>
          <a:xfrm>
            <a:off x="6446520" y="2103120"/>
            <a:ext cx="5074920" cy="2953512"/>
          </a:xfrm>
          <a:prstGeom prst="rect">
            <a:avLst/>
          </a:prstGeom>
          <a:noFill/>
        </p:spPr>
        <p:txBody>
          <a:bodyPr wrap="square" anchor="t" lIns="45720" rIns="45720">
            <a:spAutoFit/>
          </a:bodyPr>
          <a:lstStyle/>
          <a:p>
            <a:pPr algn="l">
              <a:lnSpc>
                <a:spcPct val="115000"/>
              </a:lnSpc>
            </a:pPr>
            <a:r>
              <a:rPr sz="1300" b="0">
                <a:solidFill>
                  <a:srgbClr val="111B21"/>
                </a:solidFill>
                <a:latin typeface="Segoe UI"/>
              </a:rPr>
              <a:t/>
            </a:r>
          </a:p>
        </p:txBody>
      </p:sp>
      <p:sp>
        <p:nvSpPr>
          <p:cNvPr id="16" name="TextBox 15"/>
          <p:cNvSpPr txBox="1"/>
          <p:nvPr/>
        </p:nvSpPr>
        <p:spPr>
          <a:xfrm>
            <a:off x="6492240" y="2194560"/>
            <a:ext cx="5029200" cy="3840480"/>
          </a:xfrm>
          <a:prstGeom prst="rect">
            <a:avLst/>
          </a:prstGeom>
          <a:noFill/>
        </p:spPr>
        <p:txBody>
          <a:bodyPr wrap="square">
            <a:spAutoFit/>
          </a:bodyPr>
          <a:lstStyle/>
          <a:p>
            <a:pPr>
              <a:lnSpc>
                <a:spcPct val="110000"/>
              </a:lnSpc>
              <a:spcAft>
                <a:spcPts val="1400"/>
              </a:spcAft>
            </a:pPr>
            <a:r>
              <a:rPr sz="1500" b="1">
                <a:solidFill>
                  <a:srgbClr val="128C7E"/>
                </a:solidFill>
                <a:latin typeface="Segoe UI"/>
              </a:rPr>
              <a:t>•  </a:t>
            </a:r>
            <a:r>
              <a:rPr sz="1500" b="1">
                <a:solidFill>
                  <a:srgbClr val="111B21"/>
                </a:solidFill>
                <a:latin typeface="Segoe UI"/>
              </a:rPr>
              <a:t>Screenshots: </a:t>
            </a:r>
            <a:r>
              <a:rPr sz="1500">
                <a:solidFill>
                  <a:srgbClr val="111B21"/>
                </a:solidFill>
                <a:latin typeface="Segoe UI"/>
              </a:rPr>
              <a:t>a phone camera or OS screenshot can't be fully blocked.</a:t>
            </a:r>
          </a:p>
          <a:p>
            <a:pPr>
              <a:lnSpc>
                <a:spcPct val="110000"/>
              </a:lnSpc>
              <a:spcAft>
                <a:spcPts val="1400"/>
              </a:spcAft>
            </a:pPr>
            <a:r>
              <a:rPr sz="1500" b="1">
                <a:solidFill>
                  <a:srgbClr val="128C7E"/>
                </a:solidFill>
                <a:latin typeface="Segoe UI"/>
              </a:rPr>
              <a:t>•  </a:t>
            </a:r>
            <a:r>
              <a:rPr sz="1500" b="1">
                <a:solidFill>
                  <a:srgbClr val="111B21"/>
                </a:solidFill>
                <a:latin typeface="Segoe UI"/>
              </a:rPr>
              <a:t>Creative formats: </a:t>
            </a:r>
            <a:r>
              <a:rPr sz="1500">
                <a:solidFill>
                  <a:srgbClr val="111B21"/>
                </a:solidFill>
                <a:latin typeface="Segoe UI"/>
              </a:rPr>
              <a:t>split numbers, images or other languages can slip past regex.</a:t>
            </a:r>
          </a:p>
          <a:p>
            <a:pPr>
              <a:lnSpc>
                <a:spcPct val="110000"/>
              </a:lnSpc>
              <a:spcAft>
                <a:spcPts val="1400"/>
              </a:spcAft>
            </a:pPr>
            <a:r>
              <a:rPr sz="1500" b="1">
                <a:solidFill>
                  <a:srgbClr val="128C7E"/>
                </a:solidFill>
                <a:latin typeface="Segoe UI"/>
              </a:rPr>
              <a:t>•  </a:t>
            </a:r>
            <a:r>
              <a:rPr sz="1500" b="1">
                <a:solidFill>
                  <a:srgbClr val="111B21"/>
                </a:solidFill>
                <a:latin typeface="Segoe UI"/>
              </a:rPr>
              <a:t>AI dependence: </a:t>
            </a:r>
            <a:r>
              <a:rPr sz="1500">
                <a:solidFill>
                  <a:srgbClr val="111B21"/>
                </a:solidFill>
                <a:latin typeface="Segoe UI"/>
              </a:rPr>
              <a:t>needs the internet, may misjudge tone, and free-tier inputs may be used by Google.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320040"/>
          </a:xfrm>
          <a:prstGeom prst="rect">
            <a:avLst/>
          </a:prstGeom>
          <a:noFill/>
        </p:spPr>
        <p:txBody>
          <a:bodyPr wrap="square" anchor="t" lIns="45720" rIns="45720">
            <a:spAutoFit/>
          </a:bodyPr>
          <a:lstStyle/>
          <a:p>
            <a:pPr algn="l">
              <a:lnSpc>
                <a:spcPct val="110000"/>
              </a:lnSpc>
            </a:pPr>
            <a:r>
              <a:rPr sz="1200" b="1">
                <a:solidFill>
                  <a:srgbClr val="128C7E"/>
                </a:solidFill>
                <a:latin typeface="Segoe UI"/>
              </a:rPr>
              <a:t>WHAT'S NEXT</a:t>
            </a:r>
          </a:p>
        </p:txBody>
      </p:sp>
      <p:sp>
        <p:nvSpPr>
          <p:cNvPr id="4" name="TextBox 3"/>
          <p:cNvSpPr txBox="1"/>
          <p:nvPr/>
        </p:nvSpPr>
        <p:spPr>
          <a:xfrm>
            <a:off x="548640" y="530352"/>
            <a:ext cx="10972800" cy="731520"/>
          </a:xfrm>
          <a:prstGeom prst="rect">
            <a:avLst/>
          </a:prstGeom>
          <a:noFill/>
        </p:spPr>
        <p:txBody>
          <a:bodyPr wrap="square" anchor="t" lIns="45720" rIns="45720">
            <a:spAutoFit/>
          </a:bodyPr>
          <a:lstStyle/>
          <a:p>
            <a:pPr algn="l">
              <a:lnSpc>
                <a:spcPct val="110000"/>
              </a:lnSpc>
            </a:pPr>
            <a:r>
              <a:rPr sz="3000" b="1">
                <a:solidFill>
                  <a:srgbClr val="075E54"/>
                </a:solidFill>
                <a:latin typeface="Segoe UI"/>
              </a:rPr>
              <a:t>Future enhancements</a:t>
            </a:r>
          </a:p>
        </p:txBody>
      </p:sp>
      <p:sp>
        <p:nvSpPr>
          <p:cNvPr id="5" name="TextBox 4"/>
          <p:cNvSpPr txBox="1"/>
          <p:nvPr/>
        </p:nvSpPr>
        <p:spPr>
          <a:xfrm>
            <a:off x="548640" y="6446520"/>
            <a:ext cx="7315200" cy="274320"/>
          </a:xfrm>
          <a:prstGeom prst="rect">
            <a:avLst/>
          </a:prstGeom>
          <a:noFill/>
        </p:spPr>
        <p:txBody>
          <a:bodyPr wrap="square" anchor="t" lIns="45720" rIns="45720">
            <a:spAutoFit/>
          </a:bodyPr>
          <a:lstStyle/>
          <a:p>
            <a:pPr algn="l">
              <a:lnSpc>
                <a:spcPct val="110000"/>
              </a:lnSpc>
            </a:pPr>
            <a:r>
              <a:rPr sz="1000" b="0">
                <a:solidFill>
                  <a:srgbClr val="5B6B75"/>
                </a:solidFill>
                <a:latin typeface="Segoe UI"/>
              </a:rPr>
              <a:t>🛡 ShieldChat · Secure Enterprise Chat with DLP</a:t>
            </a:r>
          </a:p>
        </p:txBody>
      </p:sp>
      <p:sp>
        <p:nvSpPr>
          <p:cNvPr id="6" name="TextBox 5"/>
          <p:cNvSpPr txBox="1"/>
          <p:nvPr/>
        </p:nvSpPr>
        <p:spPr>
          <a:xfrm>
            <a:off x="10881360" y="6446520"/>
            <a:ext cx="914400" cy="274320"/>
          </a:xfrm>
          <a:prstGeom prst="rect">
            <a:avLst/>
          </a:prstGeom>
          <a:noFill/>
        </p:spPr>
        <p:txBody>
          <a:bodyPr wrap="square" anchor="t" lIns="45720" rIns="45720">
            <a:spAutoFit/>
          </a:bodyPr>
          <a:lstStyle/>
          <a:p>
            <a:pPr algn="r">
              <a:lnSpc>
                <a:spcPct val="110000"/>
              </a:lnSpc>
            </a:pPr>
            <a:r>
              <a:rPr sz="1000" b="0">
                <a:solidFill>
                  <a:srgbClr val="5B6B75"/>
                </a:solidFill>
                <a:latin typeface="Segoe UI"/>
              </a:rPr>
              <a:t>16 / 18</a:t>
            </a:r>
          </a:p>
        </p:txBody>
      </p:sp>
      <p:sp>
        <p:nvSpPr>
          <p:cNvPr id="7" name="Rounded Rectangle 6"/>
          <p:cNvSpPr/>
          <p:nvPr/>
        </p:nvSpPr>
        <p:spPr>
          <a:xfrm>
            <a:off x="548640" y="1737360"/>
            <a:ext cx="3566160" cy="2743200"/>
          </a:xfrm>
          <a:prstGeom prst="roundRect">
            <a:avLst>
              <a:gd name="adj" fmla="val 8000"/>
            </a:avLst>
          </a:prstGeom>
          <a:solidFill>
            <a:srgbClr val="FFFFFF"/>
          </a:solidFill>
          <a:ln w="15875">
            <a:solidFill>
              <a:srgbClr val="D5D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37360"/>
            <a:ext cx="3566160" cy="82296"/>
          </a:xfrm>
          <a:prstGeom prst="rect">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38528"/>
            <a:ext cx="3200400" cy="457200"/>
          </a:xfrm>
          <a:prstGeom prst="rect">
            <a:avLst/>
          </a:prstGeom>
          <a:noFill/>
        </p:spPr>
        <p:txBody>
          <a:bodyPr wrap="square" anchor="t" lIns="45720" rIns="45720">
            <a:spAutoFit/>
          </a:bodyPr>
          <a:lstStyle/>
          <a:p>
            <a:pPr algn="l">
              <a:lnSpc>
                <a:spcPct val="110000"/>
              </a:lnSpc>
            </a:pPr>
            <a:r>
              <a:rPr sz="2400" b="0">
                <a:solidFill>
                  <a:srgbClr val="111B21"/>
                </a:solidFill>
                <a:latin typeface="Segoe UI"/>
              </a:rPr>
              <a:t>🖼</a:t>
            </a:r>
          </a:p>
        </p:txBody>
      </p:sp>
      <p:sp>
        <p:nvSpPr>
          <p:cNvPr id="10" name="TextBox 9"/>
          <p:cNvSpPr txBox="1"/>
          <p:nvPr/>
        </p:nvSpPr>
        <p:spPr>
          <a:xfrm>
            <a:off x="731520" y="2441448"/>
            <a:ext cx="3200400" cy="457200"/>
          </a:xfrm>
          <a:prstGeom prst="rect">
            <a:avLst/>
          </a:prstGeom>
          <a:noFill/>
        </p:spPr>
        <p:txBody>
          <a:bodyPr wrap="square" anchor="t" lIns="45720" rIns="45720">
            <a:spAutoFit/>
          </a:bodyPr>
          <a:lstStyle/>
          <a:p>
            <a:pPr algn="l">
              <a:lnSpc>
                <a:spcPct val="110000"/>
              </a:lnSpc>
            </a:pPr>
            <a:r>
              <a:rPr sz="1900" b="1">
                <a:solidFill>
                  <a:srgbClr val="128C7E"/>
                </a:solidFill>
                <a:latin typeface="Segoe UI"/>
              </a:rPr>
              <a:t>OCR scanning</a:t>
            </a:r>
          </a:p>
        </p:txBody>
      </p:sp>
      <p:sp>
        <p:nvSpPr>
          <p:cNvPr id="11" name="TextBox 10"/>
          <p:cNvSpPr txBox="1"/>
          <p:nvPr/>
        </p:nvSpPr>
        <p:spPr>
          <a:xfrm>
            <a:off x="731520" y="2880360"/>
            <a:ext cx="3200400" cy="1536192"/>
          </a:xfrm>
          <a:prstGeom prst="rect">
            <a:avLst/>
          </a:prstGeom>
          <a:noFill/>
        </p:spPr>
        <p:txBody>
          <a:bodyPr wrap="square" anchor="t" lIns="45720" rIns="45720">
            <a:spAutoFit/>
          </a:bodyPr>
          <a:lstStyle/>
          <a:p>
            <a:pPr algn="l">
              <a:lnSpc>
                <a:spcPct val="115000"/>
              </a:lnSpc>
            </a:pPr>
            <a:r>
              <a:rPr sz="1600" b="0">
                <a:solidFill>
                  <a:srgbClr val="111B21"/>
                </a:solidFill>
                <a:latin typeface="Segoe UI"/>
              </a:rPr>
              <a:t>Detect card numbers and IDs inside shared images and documents.</a:t>
            </a:r>
          </a:p>
        </p:txBody>
      </p:sp>
      <p:sp>
        <p:nvSpPr>
          <p:cNvPr id="12" name="Rounded Rectangle 11"/>
          <p:cNvSpPr/>
          <p:nvPr/>
        </p:nvSpPr>
        <p:spPr>
          <a:xfrm>
            <a:off x="4343400" y="1737360"/>
            <a:ext cx="3566160" cy="2743200"/>
          </a:xfrm>
          <a:prstGeom prst="roundRect">
            <a:avLst>
              <a:gd name="adj" fmla="val 8000"/>
            </a:avLst>
          </a:prstGeom>
          <a:solidFill>
            <a:srgbClr val="FFFFFF"/>
          </a:solidFill>
          <a:ln w="15875">
            <a:solidFill>
              <a:srgbClr val="D5D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737360"/>
            <a:ext cx="3566160" cy="82296"/>
          </a:xfrm>
          <a:prstGeom prst="rect">
            <a:avLst/>
          </a:prstGeom>
          <a:solidFill>
            <a:srgbClr val="1A5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938528"/>
            <a:ext cx="3200400" cy="457200"/>
          </a:xfrm>
          <a:prstGeom prst="rect">
            <a:avLst/>
          </a:prstGeom>
          <a:noFill/>
        </p:spPr>
        <p:txBody>
          <a:bodyPr wrap="square" anchor="t" lIns="45720" rIns="45720">
            <a:spAutoFit/>
          </a:bodyPr>
          <a:lstStyle/>
          <a:p>
            <a:pPr algn="l">
              <a:lnSpc>
                <a:spcPct val="110000"/>
              </a:lnSpc>
            </a:pPr>
            <a:r>
              <a:rPr sz="2400" b="0">
                <a:solidFill>
                  <a:srgbClr val="111B21"/>
                </a:solidFill>
                <a:latin typeface="Segoe UI"/>
              </a:rPr>
              <a:t>🏢</a:t>
            </a:r>
          </a:p>
        </p:txBody>
      </p:sp>
      <p:sp>
        <p:nvSpPr>
          <p:cNvPr id="15" name="TextBox 14"/>
          <p:cNvSpPr txBox="1"/>
          <p:nvPr/>
        </p:nvSpPr>
        <p:spPr>
          <a:xfrm>
            <a:off x="4526280" y="2441448"/>
            <a:ext cx="3200400" cy="457200"/>
          </a:xfrm>
          <a:prstGeom prst="rect">
            <a:avLst/>
          </a:prstGeom>
          <a:noFill/>
        </p:spPr>
        <p:txBody>
          <a:bodyPr wrap="square" anchor="t" lIns="45720" rIns="45720">
            <a:spAutoFit/>
          </a:bodyPr>
          <a:lstStyle/>
          <a:p>
            <a:pPr algn="l">
              <a:lnSpc>
                <a:spcPct val="110000"/>
              </a:lnSpc>
            </a:pPr>
            <a:r>
              <a:rPr sz="1900" b="1">
                <a:solidFill>
                  <a:srgbClr val="1A56C4"/>
                </a:solidFill>
                <a:latin typeface="Segoe UI"/>
              </a:rPr>
              <a:t>Enterprise integration</a:t>
            </a:r>
          </a:p>
        </p:txBody>
      </p:sp>
      <p:sp>
        <p:nvSpPr>
          <p:cNvPr id="16" name="TextBox 15"/>
          <p:cNvSpPr txBox="1"/>
          <p:nvPr/>
        </p:nvSpPr>
        <p:spPr>
          <a:xfrm>
            <a:off x="4526280" y="2880360"/>
            <a:ext cx="3200400" cy="1536192"/>
          </a:xfrm>
          <a:prstGeom prst="rect">
            <a:avLst/>
          </a:prstGeom>
          <a:noFill/>
        </p:spPr>
        <p:txBody>
          <a:bodyPr wrap="square" anchor="t" lIns="45720" rIns="45720">
            <a:spAutoFit/>
          </a:bodyPr>
          <a:lstStyle/>
          <a:p>
            <a:pPr algn="l">
              <a:lnSpc>
                <a:spcPct val="115000"/>
              </a:lnSpc>
            </a:pPr>
            <a:r>
              <a:rPr sz="1600" b="0">
                <a:solidFill>
                  <a:srgbClr val="111B21"/>
                </a:solidFill>
                <a:latin typeface="Segoe UI"/>
              </a:rPr>
              <a:t>Active Directory / Entra ID single sign-on and Microsoft Purview DLP policies.</a:t>
            </a:r>
          </a:p>
        </p:txBody>
      </p:sp>
      <p:sp>
        <p:nvSpPr>
          <p:cNvPr id="17" name="Rounded Rectangle 16"/>
          <p:cNvSpPr/>
          <p:nvPr/>
        </p:nvSpPr>
        <p:spPr>
          <a:xfrm>
            <a:off x="8138160" y="1737360"/>
            <a:ext cx="3566160" cy="2743200"/>
          </a:xfrm>
          <a:prstGeom prst="roundRect">
            <a:avLst>
              <a:gd name="adj" fmla="val 8000"/>
            </a:avLst>
          </a:prstGeom>
          <a:solidFill>
            <a:srgbClr val="FFFFFF"/>
          </a:solidFill>
          <a:ln w="15875">
            <a:solidFill>
              <a:srgbClr val="D5DD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1737360"/>
            <a:ext cx="3566160" cy="82296"/>
          </a:xfrm>
          <a:prstGeom prst="rect">
            <a:avLst/>
          </a:prstGeom>
          <a:solidFill>
            <a:srgbClr val="8A6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1938528"/>
            <a:ext cx="3200400" cy="457200"/>
          </a:xfrm>
          <a:prstGeom prst="rect">
            <a:avLst/>
          </a:prstGeom>
          <a:noFill/>
        </p:spPr>
        <p:txBody>
          <a:bodyPr wrap="square" anchor="t" lIns="45720" rIns="45720">
            <a:spAutoFit/>
          </a:bodyPr>
          <a:lstStyle/>
          <a:p>
            <a:pPr algn="l">
              <a:lnSpc>
                <a:spcPct val="110000"/>
              </a:lnSpc>
            </a:pPr>
            <a:r>
              <a:rPr sz="2400" b="0">
                <a:solidFill>
                  <a:srgbClr val="111B21"/>
                </a:solidFill>
                <a:latin typeface="Segoe UI"/>
              </a:rPr>
              <a:t>📱</a:t>
            </a:r>
          </a:p>
        </p:txBody>
      </p:sp>
      <p:sp>
        <p:nvSpPr>
          <p:cNvPr id="20" name="TextBox 19"/>
          <p:cNvSpPr txBox="1"/>
          <p:nvPr/>
        </p:nvSpPr>
        <p:spPr>
          <a:xfrm>
            <a:off x="8321040" y="2441448"/>
            <a:ext cx="3200400" cy="457200"/>
          </a:xfrm>
          <a:prstGeom prst="rect">
            <a:avLst/>
          </a:prstGeom>
          <a:noFill/>
        </p:spPr>
        <p:txBody>
          <a:bodyPr wrap="square" anchor="t" lIns="45720" rIns="45720">
            <a:spAutoFit/>
          </a:bodyPr>
          <a:lstStyle/>
          <a:p>
            <a:pPr algn="l">
              <a:lnSpc>
                <a:spcPct val="110000"/>
              </a:lnSpc>
            </a:pPr>
            <a:r>
              <a:rPr sz="1900" b="1">
                <a:solidFill>
                  <a:srgbClr val="8A6100"/>
                </a:solidFill>
                <a:latin typeface="Segoe UI"/>
              </a:rPr>
              <a:t>Mobile + multilingual</a:t>
            </a:r>
          </a:p>
        </p:txBody>
      </p:sp>
      <p:sp>
        <p:nvSpPr>
          <p:cNvPr id="21" name="TextBox 20"/>
          <p:cNvSpPr txBox="1"/>
          <p:nvPr/>
        </p:nvSpPr>
        <p:spPr>
          <a:xfrm>
            <a:off x="8321040" y="2880360"/>
            <a:ext cx="3200400" cy="1536192"/>
          </a:xfrm>
          <a:prstGeom prst="rect">
            <a:avLst/>
          </a:prstGeom>
          <a:noFill/>
        </p:spPr>
        <p:txBody>
          <a:bodyPr wrap="square" anchor="t" lIns="45720" rIns="45720">
            <a:spAutoFit/>
          </a:bodyPr>
          <a:lstStyle/>
          <a:p>
            <a:pPr algn="l">
              <a:lnSpc>
                <a:spcPct val="115000"/>
              </a:lnSpc>
            </a:pPr>
            <a:r>
              <a:rPr sz="1600" b="0">
                <a:solidFill>
                  <a:srgbClr val="111B21"/>
                </a:solidFill>
                <a:latin typeface="Segoe UI"/>
              </a:rPr>
              <a:t>Android / iOS apps and tone checks in Hindi, Marathi and more.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9144000" cy="320040"/>
          </a:xfrm>
          <a:prstGeom prst="rect">
            <a:avLst/>
          </a:prstGeom>
          <a:noFill/>
        </p:spPr>
        <p:txBody>
          <a:bodyPr wrap="square" anchor="t" lIns="45720" rIns="45720">
            <a:spAutoFit/>
          </a:bodyPr>
          <a:lstStyle/>
          <a:p>
            <a:pPr algn="l">
              <a:lnSpc>
                <a:spcPct val="110000"/>
              </a:lnSpc>
            </a:pPr>
            <a:r>
              <a:rPr sz="1200" b="1">
                <a:solidFill>
                  <a:srgbClr val="128C7E"/>
                </a:solidFill>
                <a:latin typeface="Segoe UI"/>
              </a:rPr>
              <a:t>SUMMARY</a:t>
            </a:r>
          </a:p>
        </p:txBody>
      </p:sp>
      <p:sp>
        <p:nvSpPr>
          <p:cNvPr id="4" name="TextBox 3"/>
          <p:cNvSpPr txBox="1"/>
          <p:nvPr/>
        </p:nvSpPr>
        <p:spPr>
          <a:xfrm>
            <a:off x="548640" y="530352"/>
            <a:ext cx="10972800" cy="731520"/>
          </a:xfrm>
          <a:prstGeom prst="rect">
            <a:avLst/>
          </a:prstGeom>
          <a:noFill/>
        </p:spPr>
        <p:txBody>
          <a:bodyPr wrap="square" anchor="t" lIns="45720" rIns="45720">
            <a:spAutoFit/>
          </a:bodyPr>
          <a:lstStyle/>
          <a:p>
            <a:pPr algn="l">
              <a:lnSpc>
                <a:spcPct val="110000"/>
              </a:lnSpc>
            </a:pPr>
            <a:r>
              <a:rPr sz="3000" b="1">
                <a:solidFill>
                  <a:srgbClr val="075E54"/>
                </a:solidFill>
                <a:latin typeface="Segoe UI"/>
              </a:rPr>
              <a:t>Conclusion</a:t>
            </a:r>
          </a:p>
        </p:txBody>
      </p:sp>
      <p:sp>
        <p:nvSpPr>
          <p:cNvPr id="5" name="TextBox 4"/>
          <p:cNvSpPr txBox="1"/>
          <p:nvPr/>
        </p:nvSpPr>
        <p:spPr>
          <a:xfrm>
            <a:off x="548640" y="6446520"/>
            <a:ext cx="7315200" cy="274320"/>
          </a:xfrm>
          <a:prstGeom prst="rect">
            <a:avLst/>
          </a:prstGeom>
          <a:noFill/>
        </p:spPr>
        <p:txBody>
          <a:bodyPr wrap="square" anchor="t" lIns="45720" rIns="45720">
            <a:spAutoFit/>
          </a:bodyPr>
          <a:lstStyle/>
          <a:p>
            <a:pPr algn="l">
              <a:lnSpc>
                <a:spcPct val="110000"/>
              </a:lnSpc>
            </a:pPr>
            <a:r>
              <a:rPr sz="1000" b="0">
                <a:solidFill>
                  <a:srgbClr val="5B6B75"/>
                </a:solidFill>
                <a:latin typeface="Segoe UI"/>
              </a:rPr>
              <a:t>🛡 ShieldChat · Secure Enterprise Chat with DLP</a:t>
            </a:r>
          </a:p>
        </p:txBody>
      </p:sp>
      <p:sp>
        <p:nvSpPr>
          <p:cNvPr id="6" name="TextBox 5"/>
          <p:cNvSpPr txBox="1"/>
          <p:nvPr/>
        </p:nvSpPr>
        <p:spPr>
          <a:xfrm>
            <a:off x="10881360" y="6446520"/>
            <a:ext cx="914400" cy="274320"/>
          </a:xfrm>
          <a:prstGeom prst="rect">
            <a:avLst/>
          </a:prstGeom>
          <a:noFill/>
        </p:spPr>
        <p:txBody>
          <a:bodyPr wrap="square" anchor="t" lIns="45720" rIns="45720">
            <a:spAutoFit/>
          </a:bodyPr>
          <a:lstStyle/>
          <a:p>
            <a:pPr algn="r">
              <a:lnSpc>
                <a:spcPct val="110000"/>
              </a:lnSpc>
            </a:pPr>
            <a:r>
              <a:rPr sz="1000" b="0">
                <a:solidFill>
                  <a:srgbClr val="5B6B75"/>
                </a:solidFill>
                <a:latin typeface="Segoe UI"/>
              </a:rPr>
              <a:t>17 / 18</a:t>
            </a:r>
          </a:p>
        </p:txBody>
      </p:sp>
      <p:sp>
        <p:nvSpPr>
          <p:cNvPr id="7" name="Rounded Rectangle 6"/>
          <p:cNvSpPr/>
          <p:nvPr/>
        </p:nvSpPr>
        <p:spPr>
          <a:xfrm>
            <a:off x="548640" y="1554480"/>
            <a:ext cx="11155680" cy="1828800"/>
          </a:xfrm>
          <a:prstGeom prst="roundRect">
            <a:avLst>
              <a:gd name="adj" fmla="val 8000"/>
            </a:avLst>
          </a:prstGeom>
          <a:solidFill>
            <a:srgbClr val="E7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10424160" cy="1645920"/>
          </a:xfrm>
          <a:prstGeom prst="rect">
            <a:avLst/>
          </a:prstGeom>
          <a:noFill/>
        </p:spPr>
        <p:txBody>
          <a:bodyPr wrap="square" anchor="ctr" lIns="45720" rIns="45720">
            <a:spAutoFit/>
          </a:bodyPr>
          <a:lstStyle/>
          <a:p>
            <a:pPr algn="l">
              <a:lnSpc>
                <a:spcPct val="120000"/>
              </a:lnSpc>
            </a:pPr>
            <a:r>
              <a:rPr sz="2000" b="0">
                <a:solidFill>
                  <a:srgbClr val="075E54"/>
                </a:solidFill>
                <a:latin typeface="Segoe UI"/>
              </a:rPr>
              <a:t>ShieldChat shows that internal chat can be both fast and secure: sensitive data is stopped before it is shared, AI keeps communication professional without ever seeing raw sensitive values, and every incident is traceable.</a:t>
            </a:r>
          </a:p>
        </p:txBody>
      </p:sp>
      <p:sp>
        <p:nvSpPr>
          <p:cNvPr id="9" name="Rounded Rectangle 8"/>
          <p:cNvSpPr/>
          <p:nvPr/>
        </p:nvSpPr>
        <p:spPr>
          <a:xfrm>
            <a:off x="548640" y="3840480"/>
            <a:ext cx="2057400" cy="1645920"/>
          </a:xfrm>
          <a:prstGeom prst="roundRect">
            <a:avLst>
              <a:gd name="adj" fmla="val 8000"/>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977639"/>
            <a:ext cx="2057400" cy="640080"/>
          </a:xfrm>
          <a:prstGeom prst="rect">
            <a:avLst/>
          </a:prstGeom>
          <a:noFill/>
        </p:spPr>
        <p:txBody>
          <a:bodyPr wrap="square" anchor="t" lIns="45720" rIns="45720">
            <a:spAutoFit/>
          </a:bodyPr>
          <a:lstStyle/>
          <a:p>
            <a:pPr algn="ctr">
              <a:lnSpc>
                <a:spcPct val="110000"/>
              </a:lnSpc>
            </a:pPr>
            <a:r>
              <a:rPr sz="3000" b="0">
                <a:solidFill>
                  <a:srgbClr val="111B21"/>
                </a:solidFill>
                <a:latin typeface="Segoe UI"/>
              </a:rPr>
              <a:t>🔐</a:t>
            </a:r>
          </a:p>
        </p:txBody>
      </p:sp>
      <p:sp>
        <p:nvSpPr>
          <p:cNvPr id="11" name="TextBox 10"/>
          <p:cNvSpPr txBox="1"/>
          <p:nvPr/>
        </p:nvSpPr>
        <p:spPr>
          <a:xfrm>
            <a:off x="548640" y="4709160"/>
            <a:ext cx="2057400" cy="457200"/>
          </a:xfrm>
          <a:prstGeom prst="rect">
            <a:avLst/>
          </a:prstGeom>
          <a:noFill/>
        </p:spPr>
        <p:txBody>
          <a:bodyPr wrap="square" anchor="t" lIns="45720" rIns="45720">
            <a:spAutoFit/>
          </a:bodyPr>
          <a:lstStyle/>
          <a:p>
            <a:pPr algn="ctr">
              <a:lnSpc>
                <a:spcPct val="110000"/>
              </a:lnSpc>
            </a:pPr>
            <a:r>
              <a:rPr sz="1600" b="1">
                <a:solidFill>
                  <a:srgbClr val="075E54"/>
                </a:solidFill>
                <a:latin typeface="Segoe UI"/>
              </a:rPr>
              <a:t>Secure login</a:t>
            </a:r>
          </a:p>
        </p:txBody>
      </p:sp>
      <p:sp>
        <p:nvSpPr>
          <p:cNvPr id="12" name="Rounded Rectangle 11"/>
          <p:cNvSpPr/>
          <p:nvPr/>
        </p:nvSpPr>
        <p:spPr>
          <a:xfrm>
            <a:off x="2816352" y="3840480"/>
            <a:ext cx="2057400" cy="1645920"/>
          </a:xfrm>
          <a:prstGeom prst="roundRect">
            <a:avLst>
              <a:gd name="adj" fmla="val 8000"/>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16352" y="3977639"/>
            <a:ext cx="2057400" cy="640080"/>
          </a:xfrm>
          <a:prstGeom prst="rect">
            <a:avLst/>
          </a:prstGeom>
          <a:noFill/>
        </p:spPr>
        <p:txBody>
          <a:bodyPr wrap="square" anchor="t" lIns="45720" rIns="45720">
            <a:spAutoFit/>
          </a:bodyPr>
          <a:lstStyle/>
          <a:p>
            <a:pPr algn="ctr">
              <a:lnSpc>
                <a:spcPct val="110000"/>
              </a:lnSpc>
            </a:pPr>
            <a:r>
              <a:rPr sz="3000" b="0">
                <a:solidFill>
                  <a:srgbClr val="111B21"/>
                </a:solidFill>
                <a:latin typeface="Segoe UI"/>
              </a:rPr>
              <a:t>🛡</a:t>
            </a:r>
          </a:p>
        </p:txBody>
      </p:sp>
      <p:sp>
        <p:nvSpPr>
          <p:cNvPr id="14" name="TextBox 13"/>
          <p:cNvSpPr txBox="1"/>
          <p:nvPr/>
        </p:nvSpPr>
        <p:spPr>
          <a:xfrm>
            <a:off x="2816352" y="4709160"/>
            <a:ext cx="2057400" cy="457200"/>
          </a:xfrm>
          <a:prstGeom prst="rect">
            <a:avLst/>
          </a:prstGeom>
          <a:noFill/>
        </p:spPr>
        <p:txBody>
          <a:bodyPr wrap="square" anchor="t" lIns="45720" rIns="45720">
            <a:spAutoFit/>
          </a:bodyPr>
          <a:lstStyle/>
          <a:p>
            <a:pPr algn="ctr">
              <a:lnSpc>
                <a:spcPct val="110000"/>
              </a:lnSpc>
            </a:pPr>
            <a:r>
              <a:rPr sz="1600" b="1">
                <a:solidFill>
                  <a:srgbClr val="075E54"/>
                </a:solidFill>
                <a:latin typeface="Segoe UI"/>
              </a:rPr>
              <a:t>2-layer DLP</a:t>
            </a:r>
          </a:p>
        </p:txBody>
      </p:sp>
      <p:sp>
        <p:nvSpPr>
          <p:cNvPr id="15" name="Rounded Rectangle 14"/>
          <p:cNvSpPr/>
          <p:nvPr/>
        </p:nvSpPr>
        <p:spPr>
          <a:xfrm>
            <a:off x="5084064" y="3840480"/>
            <a:ext cx="2057400" cy="1645920"/>
          </a:xfrm>
          <a:prstGeom prst="roundRect">
            <a:avLst>
              <a:gd name="adj" fmla="val 8000"/>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84064" y="3977639"/>
            <a:ext cx="2057400" cy="640080"/>
          </a:xfrm>
          <a:prstGeom prst="rect">
            <a:avLst/>
          </a:prstGeom>
          <a:noFill/>
        </p:spPr>
        <p:txBody>
          <a:bodyPr wrap="square" anchor="t" lIns="45720" rIns="45720">
            <a:spAutoFit/>
          </a:bodyPr>
          <a:lstStyle/>
          <a:p>
            <a:pPr algn="ctr">
              <a:lnSpc>
                <a:spcPct val="110000"/>
              </a:lnSpc>
            </a:pPr>
            <a:r>
              <a:rPr sz="3000" b="0">
                <a:solidFill>
                  <a:srgbClr val="111B21"/>
                </a:solidFill>
                <a:latin typeface="Segoe UI"/>
              </a:rPr>
              <a:t>🤖</a:t>
            </a:r>
          </a:p>
        </p:txBody>
      </p:sp>
      <p:sp>
        <p:nvSpPr>
          <p:cNvPr id="17" name="TextBox 16"/>
          <p:cNvSpPr txBox="1"/>
          <p:nvPr/>
        </p:nvSpPr>
        <p:spPr>
          <a:xfrm>
            <a:off x="5084064" y="4709160"/>
            <a:ext cx="2057400" cy="457200"/>
          </a:xfrm>
          <a:prstGeom prst="rect">
            <a:avLst/>
          </a:prstGeom>
          <a:noFill/>
        </p:spPr>
        <p:txBody>
          <a:bodyPr wrap="square" anchor="t" lIns="45720" rIns="45720">
            <a:spAutoFit/>
          </a:bodyPr>
          <a:lstStyle/>
          <a:p>
            <a:pPr algn="ctr">
              <a:lnSpc>
                <a:spcPct val="110000"/>
              </a:lnSpc>
            </a:pPr>
            <a:r>
              <a:rPr sz="1600" b="1">
                <a:solidFill>
                  <a:srgbClr val="075E54"/>
                </a:solidFill>
                <a:latin typeface="Segoe UI"/>
              </a:rPr>
              <a:t>Gemini AI</a:t>
            </a:r>
          </a:p>
        </p:txBody>
      </p:sp>
      <p:sp>
        <p:nvSpPr>
          <p:cNvPr id="18" name="Rounded Rectangle 17"/>
          <p:cNvSpPr/>
          <p:nvPr/>
        </p:nvSpPr>
        <p:spPr>
          <a:xfrm>
            <a:off x="7351775" y="3840480"/>
            <a:ext cx="2057400" cy="1645920"/>
          </a:xfrm>
          <a:prstGeom prst="roundRect">
            <a:avLst>
              <a:gd name="adj" fmla="val 8000"/>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51775" y="3977639"/>
            <a:ext cx="2057400" cy="640080"/>
          </a:xfrm>
          <a:prstGeom prst="rect">
            <a:avLst/>
          </a:prstGeom>
          <a:noFill/>
        </p:spPr>
        <p:txBody>
          <a:bodyPr wrap="square" anchor="t" lIns="45720" rIns="45720">
            <a:spAutoFit/>
          </a:bodyPr>
          <a:lstStyle/>
          <a:p>
            <a:pPr algn="ctr">
              <a:lnSpc>
                <a:spcPct val="110000"/>
              </a:lnSpc>
            </a:pPr>
            <a:r>
              <a:rPr sz="3000" b="0">
                <a:solidFill>
                  <a:srgbClr val="111B21"/>
                </a:solidFill>
                <a:latin typeface="Segoe UI"/>
              </a:rPr>
              <a:t>🚫</a:t>
            </a:r>
          </a:p>
        </p:txBody>
      </p:sp>
      <p:sp>
        <p:nvSpPr>
          <p:cNvPr id="20" name="TextBox 19"/>
          <p:cNvSpPr txBox="1"/>
          <p:nvPr/>
        </p:nvSpPr>
        <p:spPr>
          <a:xfrm>
            <a:off x="7351775" y="4709160"/>
            <a:ext cx="2057400" cy="457200"/>
          </a:xfrm>
          <a:prstGeom prst="rect">
            <a:avLst/>
          </a:prstGeom>
          <a:noFill/>
        </p:spPr>
        <p:txBody>
          <a:bodyPr wrap="square" anchor="t" lIns="45720" rIns="45720">
            <a:spAutoFit/>
          </a:bodyPr>
          <a:lstStyle/>
          <a:p>
            <a:pPr algn="ctr">
              <a:lnSpc>
                <a:spcPct val="110000"/>
              </a:lnSpc>
            </a:pPr>
            <a:r>
              <a:rPr sz="1600" b="1">
                <a:solidFill>
                  <a:srgbClr val="075E54"/>
                </a:solidFill>
                <a:latin typeface="Segoe UI"/>
              </a:rPr>
              <a:t>Anti-exfiltration</a:t>
            </a:r>
          </a:p>
        </p:txBody>
      </p:sp>
      <p:sp>
        <p:nvSpPr>
          <p:cNvPr id="21" name="Rounded Rectangle 20"/>
          <p:cNvSpPr/>
          <p:nvPr/>
        </p:nvSpPr>
        <p:spPr>
          <a:xfrm>
            <a:off x="9619488" y="3840480"/>
            <a:ext cx="2057400" cy="1645920"/>
          </a:xfrm>
          <a:prstGeom prst="roundRect">
            <a:avLst>
              <a:gd name="adj" fmla="val 8000"/>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19488" y="3977639"/>
            <a:ext cx="2057400" cy="640080"/>
          </a:xfrm>
          <a:prstGeom prst="rect">
            <a:avLst/>
          </a:prstGeom>
          <a:noFill/>
        </p:spPr>
        <p:txBody>
          <a:bodyPr wrap="square" anchor="t" lIns="45720" rIns="45720">
            <a:spAutoFit/>
          </a:bodyPr>
          <a:lstStyle/>
          <a:p>
            <a:pPr algn="ctr">
              <a:lnSpc>
                <a:spcPct val="110000"/>
              </a:lnSpc>
            </a:pPr>
            <a:r>
              <a:rPr sz="3000" b="0">
                <a:solidFill>
                  <a:srgbClr val="111B21"/>
                </a:solidFill>
                <a:latin typeface="Segoe UI"/>
              </a:rPr>
              <a:t>📊</a:t>
            </a:r>
          </a:p>
        </p:txBody>
      </p:sp>
      <p:sp>
        <p:nvSpPr>
          <p:cNvPr id="23" name="TextBox 22"/>
          <p:cNvSpPr txBox="1"/>
          <p:nvPr/>
        </p:nvSpPr>
        <p:spPr>
          <a:xfrm>
            <a:off x="9619488" y="4709160"/>
            <a:ext cx="2057400" cy="457200"/>
          </a:xfrm>
          <a:prstGeom prst="rect">
            <a:avLst/>
          </a:prstGeom>
          <a:noFill/>
        </p:spPr>
        <p:txBody>
          <a:bodyPr wrap="square" anchor="t" lIns="45720" rIns="45720">
            <a:spAutoFit/>
          </a:bodyPr>
          <a:lstStyle/>
          <a:p>
            <a:pPr algn="ctr">
              <a:lnSpc>
                <a:spcPct val="110000"/>
              </a:lnSpc>
            </a:pPr>
            <a:r>
              <a:rPr sz="1600" b="1">
                <a:solidFill>
                  <a:srgbClr val="075E54"/>
                </a:solidFill>
                <a:latin typeface="Segoe UI"/>
              </a:rPr>
              <a:t>Live monitoring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5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4114800"/>
            <a:ext cx="4572000" cy="4572000"/>
          </a:xfrm>
          <a:prstGeom prst="ellipse">
            <a:avLst/>
          </a:prstGeom>
          <a:solidFill>
            <a:srgbClr val="128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828800"/>
            <a:ext cx="12191695" cy="1097280"/>
          </a:xfrm>
          <a:prstGeom prst="rect">
            <a:avLst/>
          </a:prstGeom>
          <a:noFill/>
        </p:spPr>
        <p:txBody>
          <a:bodyPr wrap="square" anchor="t" lIns="45720" rIns="45720">
            <a:spAutoFit/>
          </a:bodyPr>
          <a:lstStyle/>
          <a:p>
            <a:pPr algn="ctr">
              <a:lnSpc>
                <a:spcPct val="110000"/>
              </a:lnSpc>
            </a:pPr>
            <a:r>
              <a:rPr sz="6000" b="1">
                <a:solidFill>
                  <a:srgbClr val="FFFFFF"/>
                </a:solidFill>
                <a:latin typeface="Segoe UI"/>
              </a:rPr>
              <a:t>Thank you</a:t>
            </a:r>
          </a:p>
        </p:txBody>
      </p:sp>
      <p:sp>
        <p:nvSpPr>
          <p:cNvPr id="5" name="TextBox 4"/>
          <p:cNvSpPr txBox="1"/>
          <p:nvPr/>
        </p:nvSpPr>
        <p:spPr>
          <a:xfrm>
            <a:off x="0" y="2971800"/>
            <a:ext cx="12191695" cy="731520"/>
          </a:xfrm>
          <a:prstGeom prst="rect">
            <a:avLst/>
          </a:prstGeom>
          <a:noFill/>
        </p:spPr>
        <p:txBody>
          <a:bodyPr wrap="square" anchor="t" lIns="45720" rIns="45720">
            <a:spAutoFit/>
          </a:bodyPr>
          <a:lstStyle/>
          <a:p>
            <a:pPr algn="ctr">
              <a:lnSpc>
                <a:spcPct val="110000"/>
              </a:lnSpc>
            </a:pPr>
            <a:r>
              <a:rPr sz="2600" b="0">
                <a:solidFill>
                  <a:srgbClr val="C8F4EA"/>
                </a:solidFill>
                <a:latin typeface="Segoe UI"/>
              </a:rPr>
              <a:t>Questions?  ·  Live demo</a:t>
            </a:r>
          </a:p>
        </p:txBody>
      </p:sp>
      <p:sp>
        <p:nvSpPr>
          <p:cNvPr id="6" name="TextBox 5"/>
          <p:cNvSpPr txBox="1"/>
          <p:nvPr/>
        </p:nvSpPr>
        <p:spPr>
          <a:xfrm>
            <a:off x="0" y="4206240"/>
            <a:ext cx="12191695" cy="1097280"/>
          </a:xfrm>
          <a:prstGeom prst="rect">
            <a:avLst/>
          </a:prstGeom>
          <a:noFill/>
        </p:spPr>
        <p:txBody>
          <a:bodyPr wrap="square" anchor="t" lIns="45720" rIns="45720">
            <a:spAutoFit/>
          </a:bodyPr>
          <a:lstStyle/>
          <a:p>
            <a:pPr algn="ctr">
              <a:lnSpc>
                <a:spcPct val="140000"/>
              </a:lnSpc>
            </a:pPr>
            <a:r>
              <a:rPr sz="1600" b="0">
                <a:solidFill>
                  <a:srgbClr val="FFFFFF"/>
                </a:solidFill>
                <a:latin typeface="Segoe UI"/>
              </a:rPr>
              <a:t>Piyush Tiwatne (TH3313)  ·  Kedar Bhaskar (TH3314)</a:t>
            </a:r>
          </a:p>
          <a:p>
            <a:pPr algn="ctr">
              <a:lnSpc>
                <a:spcPct val="140000"/>
              </a:lnSpc>
            </a:pPr>
            <a:r>
              <a:rPr sz="1600" b="0">
                <a:solidFill>
                  <a:srgbClr val="FFFFFF"/>
                </a:solidFill>
                <a:latin typeface="Segoe UI"/>
              </a:rPr>
              <a:t>Guide: Mrs Rajashree Khadke  ·  CDS, MIT ACSC  ·  2026-27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ShieldChat</dc:title>
  <dc:subject/>
  <dc:creator>Piyush Tiwatne, Kedar Bhaskar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